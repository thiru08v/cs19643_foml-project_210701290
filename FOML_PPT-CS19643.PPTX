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78" r:id="rId5"/>
    <p:sldId id="264" r:id="rId6"/>
    <p:sldId id="279" r:id="rId7"/>
    <p:sldId id="259" r:id="rId8"/>
    <p:sldId id="260" r:id="rId9"/>
    <p:sldId id="262" r:id="rId10"/>
    <p:sldId id="274" r:id="rId11"/>
    <p:sldId id="265" r:id="rId12"/>
    <p:sldId id="280" r:id="rId13"/>
    <p:sldId id="281" r:id="rId14"/>
    <p:sldId id="270" r:id="rId15"/>
    <p:sldId id="271" r:id="rId16"/>
    <p:sldId id="272" r:id="rId17"/>
    <p:sldId id="282" r:id="rId18"/>
    <p:sldId id="273" r:id="rId19"/>
  </p:sldIdLst>
  <p:sldSz cx="9144000" cy="6858000" type="screen4x3"/>
  <p:notesSz cx="6858000" cy="9144000"/>
  <p:embeddedFontLst>
    <p:embeddedFont>
      <p:font typeface="Open Sans ExtraBold" panose="020B0906030804020204" pitchFamily="34" charset="0"/>
      <p:bold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jz++ykIk9HnYRbu1Fk8J58ijoz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2FBFC6-B900-4C24-9E69-20D259D9EA4D}">
  <a:tblStyle styleId="{9B2FBFC6-B900-4C24-9E69-20D259D9EA4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21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330636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19"/>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Calibri"/>
                <a:ea typeface="Calibri"/>
                <a:cs typeface="Calibri"/>
                <a:sym typeface="Calibri"/>
              </a:rPr>
              <a:t>Department of Computer Science and Engineering</a:t>
            </a:r>
            <a:endParaRPr sz="1600" b="0" i="0" u="none" strike="noStrike" cap="none">
              <a:solidFill>
                <a:srgbClr val="FFFFFF"/>
              </a:solidFill>
              <a:latin typeface="Calibri"/>
              <a:ea typeface="Calibri"/>
              <a:cs typeface="Calibri"/>
              <a:sym typeface="Calibri"/>
            </a:endParaRPr>
          </a:p>
        </p:txBody>
      </p:sp>
      <p:cxnSp>
        <p:nvCxnSpPr>
          <p:cNvPr id="23" name="Google Shape;23;p19"/>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19"/>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Calibri"/>
                <a:ea typeface="Calibri"/>
                <a:cs typeface="Calibri"/>
                <a:sym typeface="Calibri"/>
              </a:rPr>
              <a:t>Rajalakshmi Engineering College 		</a:t>
            </a:r>
            <a:fld id="{00000000-1234-1234-1234-123412341234}" type="slidenum">
              <a:rPr lang="en-US" sz="1600" b="0" i="0" u="none" strike="noStrike" cap="none">
                <a:solidFill>
                  <a:srgbClr val="FFFFFF"/>
                </a:solidFill>
                <a:latin typeface="Calibri"/>
                <a:ea typeface="Calibri"/>
                <a:cs typeface="Calibri"/>
                <a:sym typeface="Calibri"/>
              </a:rPr>
              <a:t>‹#›</a:t>
            </a:fld>
            <a:endParaRPr sz="16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8" name="Google Shape;2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2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2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2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2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6"/>
          <p:cNvSpPr>
            <a:spLocks noGrp="1"/>
          </p:cNvSpPr>
          <p:nvPr>
            <p:ph type="pic" idx="2"/>
          </p:nvPr>
        </p:nvSpPr>
        <p:spPr>
          <a:xfrm>
            <a:off x="1792288" y="612775"/>
            <a:ext cx="5486400" cy="4114800"/>
          </a:xfrm>
          <a:prstGeom prst="rect">
            <a:avLst/>
          </a:prstGeom>
          <a:noFill/>
          <a:ln>
            <a:noFill/>
          </a:ln>
        </p:spPr>
      </p:sp>
      <p:sp>
        <p:nvSpPr>
          <p:cNvPr id="68" name="Google Shape;68;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
          <p:cNvGrpSpPr/>
          <p:nvPr/>
        </p:nvGrpSpPr>
        <p:grpSpPr>
          <a:xfrm>
            <a:off x="-14748" y="986564"/>
            <a:ext cx="9158748" cy="5257095"/>
            <a:chOff x="-14748" y="986564"/>
            <a:chExt cx="9158748" cy="5257095"/>
          </a:xfrm>
        </p:grpSpPr>
        <p:sp>
          <p:nvSpPr>
            <p:cNvPr id="90" name="Google Shape;90;p1"/>
            <p:cNvSpPr txBox="1"/>
            <p:nvPr/>
          </p:nvSpPr>
          <p:spPr>
            <a:xfrm>
              <a:off x="114244" y="4920260"/>
              <a:ext cx="4322209"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Team Members:</a:t>
              </a:r>
              <a:br>
                <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b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1.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SATHISH KUMAR R</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210701515</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2. THIRUESWARAN V </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(210701290)</a:t>
              </a: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Calibri"/>
                  <a:ea typeface="Calibri"/>
                  <a:cs typeface="Calibri"/>
                  <a:sym typeface="Calibri"/>
                </a:rPr>
                <a:t> </a:t>
              </a:r>
              <a:endParaRPr dirty="0"/>
            </a:p>
          </p:txBody>
        </p:sp>
        <p:grpSp>
          <p:nvGrpSpPr>
            <p:cNvPr id="91" name="Google Shape;91;p1"/>
            <p:cNvGrpSpPr/>
            <p:nvPr/>
          </p:nvGrpSpPr>
          <p:grpSpPr>
            <a:xfrm>
              <a:off x="-14748" y="986564"/>
              <a:ext cx="9158748" cy="3628907"/>
              <a:chOff x="-14748" y="986564"/>
              <a:chExt cx="9158748" cy="3628907"/>
            </a:xfrm>
          </p:grpSpPr>
          <p:sp>
            <p:nvSpPr>
              <p:cNvPr id="92" name="Google Shape;92;p1"/>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0" y="1502125"/>
                <a:ext cx="5744100"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94" name="Google Shape;94;p1"/>
              <p:cNvGrpSpPr/>
              <p:nvPr/>
            </p:nvGrpSpPr>
            <p:grpSpPr>
              <a:xfrm>
                <a:off x="-14748" y="986564"/>
                <a:ext cx="4014973" cy="1075928"/>
                <a:chOff x="-19391" y="1011603"/>
                <a:chExt cx="5278947" cy="1075928"/>
              </a:xfrm>
            </p:grpSpPr>
            <p:sp>
              <p:nvSpPr>
                <p:cNvPr id="95" name="Google Shape;95;p1"/>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6" name="Google Shape;96;p1"/>
                <p:cNvSpPr txBox="1"/>
                <p:nvPr/>
              </p:nvSpPr>
              <p:spPr>
                <a:xfrm>
                  <a:off x="269111" y="1173241"/>
                  <a:ext cx="4322700" cy="70784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Calibri"/>
                      <a:ea typeface="Calibri"/>
                      <a:cs typeface="Calibri"/>
                      <a:sym typeface="Calibri"/>
                    </a:rPr>
                    <a:t>Fundamentals of Machine Learning </a:t>
                  </a:r>
                  <a:endParaRPr sz="2000" b="1" i="0" u="none" strike="noStrike" cap="none" dirty="0">
                    <a:solidFill>
                      <a:schemeClr val="lt1"/>
                    </a:solidFill>
                    <a:latin typeface="Calibri"/>
                    <a:ea typeface="Calibri"/>
                    <a:cs typeface="Calibri"/>
                    <a:sym typeface="Calibri"/>
                  </a:endParaRPr>
                </a:p>
              </p:txBody>
            </p:sp>
          </p:grpSp>
          <p:sp>
            <p:nvSpPr>
              <p:cNvPr id="97" name="Google Shape;97;p1"/>
              <p:cNvSpPr txBox="1"/>
              <p:nvPr/>
            </p:nvSpPr>
            <p:spPr>
              <a:xfrm>
                <a:off x="58000" y="2598044"/>
                <a:ext cx="5061763"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PREDICTIONS OF TESLA STOCK PRICE BASED ON LINEAR REGRESSION,SVM,RANDOM FOREST,LSTM AND ARIMA</a:t>
                </a:r>
              </a:p>
            </p:txBody>
          </p:sp>
          <p:sp>
            <p:nvSpPr>
              <p:cNvPr id="98" name="Google Shape;98;p1"/>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pic>
        <p:nvPicPr>
          <p:cNvPr id="99" name="Google Shape;99;p1"/>
          <p:cNvPicPr preferRelativeResize="0"/>
          <p:nvPr/>
        </p:nvPicPr>
        <p:blipFill rotWithShape="1">
          <a:blip r:embed="rId4">
            <a:alphaModFix/>
          </a:blip>
          <a:srcRect/>
          <a:stretch/>
        </p:blipFill>
        <p:spPr>
          <a:xfrm>
            <a:off x="6437825" y="1934150"/>
            <a:ext cx="2648175" cy="2250950"/>
          </a:xfrm>
          <a:prstGeom prst="rect">
            <a:avLst/>
          </a:prstGeom>
          <a:noFill/>
          <a:ln>
            <a:noFill/>
          </a:ln>
        </p:spPr>
      </p:pic>
      <p:sp>
        <p:nvSpPr>
          <p:cNvPr id="2" name="Google Shape;90;p1">
            <a:extLst>
              <a:ext uri="{FF2B5EF4-FFF2-40B4-BE49-F238E27FC236}">
                <a16:creationId xmlns:a16="http://schemas.microsoft.com/office/drawing/2014/main" id="{FED7E851-A546-1DA8-53C5-829ADF2AF0F1}"/>
              </a:ext>
            </a:extLst>
          </p:cNvPr>
          <p:cNvSpPr txBox="1"/>
          <p:nvPr/>
        </p:nvSpPr>
        <p:spPr>
          <a:xfrm>
            <a:off x="4436453" y="4890037"/>
            <a:ext cx="4322209" cy="16003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1800" b="1" i="0" u="none" strike="noStrike" dirty="0">
                <a:solidFill>
                  <a:srgbClr val="000000"/>
                </a:solidFill>
                <a:effectLst/>
                <a:latin typeface="Times New Roman" panose="02020603050405020304" pitchFamily="18" charset="0"/>
              </a:rPr>
              <a:t>PROJECT CO-ORDINATOR: </a:t>
            </a:r>
          </a:p>
          <a:p>
            <a:pPr marL="0" marR="0" lvl="0" indent="0" algn="l" rtl="0">
              <a:lnSpc>
                <a:spcPct val="100000"/>
              </a:lnSpc>
              <a:spcBef>
                <a:spcPts val="0"/>
              </a:spcBef>
              <a:spcAft>
                <a:spcPts val="0"/>
              </a:spcAft>
              <a:buClr>
                <a:srgbClr val="000000"/>
              </a:buClr>
              <a:buSzPts val="2000"/>
              <a:buFont typeface="Arial"/>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V Karthick</a:t>
            </a:r>
          </a:p>
          <a:p>
            <a:pPr marL="0" marR="0" lvl="0" indent="0" algn="l" rtl="0">
              <a:lnSpc>
                <a:spcPct val="100000"/>
              </a:lnSpc>
              <a:spcBef>
                <a:spcPts val="0"/>
              </a:spcBef>
              <a:spcAft>
                <a:spcPts val="0"/>
              </a:spcAft>
              <a:buClr>
                <a:srgbClr val="000000"/>
              </a:buClr>
              <a:buSzPts val="2000"/>
              <a:buFont typeface="Arial"/>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Associate Professor</a:t>
            </a:r>
            <a:r>
              <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p>
          <a:p>
            <a:pPr marL="0" marR="0" lvl="0" indent="0" algn="l" rtl="0">
              <a:lnSpc>
                <a:spcPct val="100000"/>
              </a:lnSpc>
              <a:spcBef>
                <a:spcPts val="0"/>
              </a:spcBef>
              <a:spcAft>
                <a:spcPts val="0"/>
              </a:spcAft>
              <a:buClr>
                <a:srgbClr val="000000"/>
              </a:buClr>
              <a:buSzPts val="2000"/>
              <a:buFont typeface="Arial"/>
              <a:buNone/>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Department of CSE</a:t>
            </a:r>
            <a:endParaRPr lang="en-US" sz="2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000000"/>
              </a:buClr>
              <a:buSzPts val="2000"/>
              <a:buFont typeface="Arial"/>
              <a:buNone/>
            </a:pPr>
            <a:r>
              <a:rPr lang="en-IN" sz="2000" dirty="0">
                <a:latin typeface="Times New Roman" panose="02020603050405020304" pitchFamily="18" charset="0"/>
                <a:cs typeface="Times New Roman" panose="02020603050405020304" pitchFamily="18" charset="0"/>
              </a:rPr>
              <a:t>Rajalakshmi Engineering college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sym typeface="Calibri"/>
              </a:rPr>
              <a:t>AGENDA</a:t>
            </a:r>
            <a:endParaRPr b="1" dirty="0">
              <a:latin typeface="Times New Roman" panose="02020603050405020304" pitchFamily="18" charset="0"/>
              <a:cs typeface="Times New Roman" panose="02020603050405020304" pitchFamily="18" charset="0"/>
              <a:sym typeface="Calibri"/>
            </a:endParaRPr>
          </a:p>
        </p:txBody>
      </p:sp>
      <p:sp>
        <p:nvSpPr>
          <p:cNvPr id="106" name="Google Shape;106;p2"/>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ABSTRACT</a:t>
            </a:r>
          </a:p>
          <a:p>
            <a:pPr marL="342900" lvl="0" indent="-342900" algn="l" rtl="0">
              <a:lnSpc>
                <a:spcPct val="114000"/>
              </a:lnSpc>
              <a:spcBef>
                <a:spcPts val="0"/>
              </a:spcBef>
              <a:spcAft>
                <a:spcPts val="0"/>
              </a:spcAft>
              <a:buClr>
                <a:schemeClr val="dk1"/>
              </a:buClr>
              <a:buSzPts val="2400"/>
              <a:buFont typeface="Noto Sans Symbols"/>
              <a:buChar char="⮚"/>
            </a:pPr>
            <a:r>
              <a:rPr lang="en-IN" dirty="0">
                <a:latin typeface="Times New Roman"/>
                <a:ea typeface="Times New Roman"/>
                <a:cs typeface="Times New Roman"/>
                <a:sym typeface="Times New Roman"/>
              </a:rPr>
              <a:t> INTRODUCTION</a:t>
            </a:r>
          </a:p>
          <a:p>
            <a:pPr marL="342900" indent="-342900">
              <a:spcBef>
                <a:spcPts val="0"/>
              </a:spcBef>
              <a:buFont typeface="Noto Sans Symbols"/>
              <a:buChar char="⮚"/>
            </a:pPr>
            <a:r>
              <a:rPr lang="en-IN" dirty="0">
                <a:latin typeface="Times New Roman"/>
                <a:ea typeface="Times New Roman"/>
                <a:cs typeface="Times New Roman"/>
                <a:sym typeface="Times New Roman"/>
              </a:rPr>
              <a:t> </a:t>
            </a:r>
            <a:r>
              <a:rPr lang="en-US" dirty="0">
                <a:latin typeface="Times New Roman"/>
                <a:ea typeface="Times New Roman"/>
                <a:cs typeface="Times New Roman"/>
                <a:sym typeface="Times New Roman"/>
              </a:rPr>
              <a:t>LITERATURE SURVEY</a:t>
            </a:r>
            <a:endParaRPr lang="en-US" dirty="0"/>
          </a:p>
          <a:p>
            <a:pPr marL="457200" lvl="0" indent="-381000" algn="l" rtl="0">
              <a:spcBef>
                <a:spcPts val="0"/>
              </a:spcBef>
              <a:spcAft>
                <a:spcPts val="0"/>
              </a:spcAft>
              <a:buSzPts val="2400"/>
              <a:buFont typeface="Times New Roman"/>
              <a:buChar char="⮚"/>
            </a:pPr>
            <a:r>
              <a:rPr lang="en-US" dirty="0">
                <a:latin typeface="Times New Roman"/>
                <a:ea typeface="Times New Roman"/>
                <a:cs typeface="Times New Roman"/>
                <a:sym typeface="Times New Roman"/>
              </a:rPr>
              <a:t>EXISTING SYSTEM</a:t>
            </a:r>
            <a:endParaRPr dirty="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US" dirty="0">
                <a:latin typeface="Times New Roman"/>
                <a:ea typeface="Times New Roman"/>
                <a:cs typeface="Times New Roman"/>
                <a:sym typeface="Times New Roman"/>
              </a:rPr>
              <a:t>PROPOSED SYSTEM</a:t>
            </a:r>
            <a:endParaRPr dirty="0">
              <a:latin typeface="Times New Roman"/>
              <a:ea typeface="Times New Roman"/>
              <a:cs typeface="Times New Roman"/>
              <a:sym typeface="Times New Roman"/>
            </a:endParaRPr>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PROPOSED METHODOLOGY</a:t>
            </a:r>
            <a:endParaRPr dirty="0">
              <a:latin typeface="Times New Roman"/>
              <a:ea typeface="Times New Roman"/>
              <a:cs typeface="Times New Roman"/>
              <a:sym typeface="Times New Roman"/>
            </a:endParaRPr>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cs typeface="Times New Roman"/>
                <a:sym typeface="Times New Roman"/>
              </a:rPr>
              <a:t>RESULTS AND DISCUSSION</a:t>
            </a:r>
          </a:p>
          <a:p>
            <a:pPr marL="342900" lvl="0" indent="-342900" algn="l" rtl="0">
              <a:lnSpc>
                <a:spcPct val="114000"/>
              </a:lnSpc>
              <a:spcBef>
                <a:spcPts val="0"/>
              </a:spcBef>
              <a:spcAft>
                <a:spcPts val="0"/>
              </a:spcAft>
              <a:buClr>
                <a:schemeClr val="dk1"/>
              </a:buClr>
              <a:buSzPts val="2400"/>
              <a:buFont typeface="Noto Sans Symbols"/>
              <a:buChar char="⮚"/>
            </a:pPr>
            <a:r>
              <a:rPr lang="en-IN" dirty="0"/>
              <a:t> </a:t>
            </a:r>
            <a:r>
              <a:rPr lang="en-IN" dirty="0">
                <a:latin typeface="Times New Roman" panose="02020603050405020304" pitchFamily="18" charset="0"/>
                <a:cs typeface="Times New Roman" panose="02020603050405020304" pitchFamily="18" charset="0"/>
              </a:rPr>
              <a:t>OUTPUT</a:t>
            </a:r>
            <a:endParaRPr dirty="0"/>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CONCLUSION AND FUTURE ENHANCEMENTS</a:t>
            </a:r>
            <a:endParaRPr dirty="0"/>
          </a:p>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a:ea typeface="Times New Roman"/>
                <a:cs typeface="Times New Roman"/>
                <a:sym typeface="Times New Roman"/>
              </a:rPr>
              <a:t> REFERENCES</a:t>
            </a:r>
            <a:endParaRPr dirty="0"/>
          </a:p>
          <a:p>
            <a:pPr marL="342900" lvl="0" indent="-190500" algn="l" rtl="0">
              <a:lnSpc>
                <a:spcPct val="114000"/>
              </a:lnSpc>
              <a:spcBef>
                <a:spcPts val="0"/>
              </a:spcBef>
              <a:spcAft>
                <a:spcPts val="0"/>
              </a:spcAft>
              <a:buClr>
                <a:schemeClr val="dk1"/>
              </a:buClr>
              <a:buSzPts val="2400"/>
              <a:buFont typeface="Noto Sans Symbols"/>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190500" y="106375"/>
            <a:ext cx="8763000" cy="7107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chemeClr val="dk1"/>
              </a:buClr>
              <a:buSzPct val="100000"/>
              <a:buFont typeface="Calibri"/>
              <a:buNone/>
            </a:pPr>
            <a:r>
              <a:rPr lang="en-US" b="1">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p:txBody>
      </p:sp>
      <p:sp>
        <p:nvSpPr>
          <p:cNvPr id="113" name="Google Shape;113;p3"/>
          <p:cNvSpPr txBox="1">
            <a:spLocks noGrp="1"/>
          </p:cNvSpPr>
          <p:nvPr>
            <p:ph type="body" idx="1"/>
          </p:nvPr>
        </p:nvSpPr>
        <p:spPr>
          <a:xfrm>
            <a:off x="190500" y="912075"/>
            <a:ext cx="8568000" cy="5292000"/>
          </a:xfrm>
          <a:prstGeom prst="rect">
            <a:avLst/>
          </a:prstGeom>
          <a:noFill/>
          <a:ln>
            <a:noFill/>
          </a:ln>
        </p:spPr>
        <p:txBody>
          <a:bodyPr spcFirstLastPara="1" wrap="square" lIns="91425" tIns="45700" rIns="91425" bIns="45700" anchor="t" anchorCtr="0">
            <a:noAutofit/>
          </a:bodyPr>
          <a:lstStyle/>
          <a:p>
            <a:pPr marL="0" marR="314325" indent="0" algn="just">
              <a:lnSpc>
                <a:spcPct val="115000"/>
              </a:lnSpc>
              <a:spcBef>
                <a:spcPts val="0"/>
              </a:spcBef>
              <a:buSzPts val="1100"/>
              <a:buNone/>
            </a:pPr>
            <a:r>
              <a:rPr lang="en-US" sz="2100" dirty="0">
                <a:solidFill>
                  <a:srgbClr val="0D0D0D"/>
                </a:solidFill>
                <a:highlight>
                  <a:srgbClr val="FFFFFF"/>
                </a:highlight>
                <a:latin typeface="Times New Roman"/>
                <a:ea typeface="Times New Roman"/>
                <a:cs typeface="Times New Roman"/>
                <a:sym typeface="Times New Roman"/>
              </a:rPr>
              <a:t>         </a:t>
            </a:r>
          </a:p>
          <a:p>
            <a:pPr marL="450850" marR="38100" indent="0" algn="just">
              <a:lnSpc>
                <a:spcPct val="104000"/>
              </a:lnSpc>
              <a:spcAft>
                <a:spcPts val="860"/>
              </a:spcAft>
              <a:buNone/>
            </a:pPr>
            <a:r>
              <a:rPr lang="en-IN" sz="14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The stock market of a country is an important financial market. A booming stock market promotes the effective use of social capital, the prudent deployment of economic resources, and the expansion of the country's macroeconomics. Making more informed decisions as an investor is made possible by the development of trustworthy equity market models. A trading model allows market participants to select corporations that pay the highest dividend payments while lowering the risks associated with investing. However, batch processing methodologies make stock market research more challenging as a result of the strong connection between stock prices. The advent of technological achievements like universal digitization has elevated share market forecasting into a highly advanced age. Through the research and comparison of several methodologies, this article tries to discover the most accurate approach for predicting Tesla stock closing prices. Predictions are made using statistical approaches such as ARIMA and machine learning methods such as SVM , Linear Regression, Random Forests, and LSTM. Following a thorough examination of all approaches, it was discovered that the accuracy of machine learning methods in predicting stocks is higher than that of statistical methods and integrated algorithm technologies like Random Forest have excellent anti-interference and anti-overfitting characteristics, which are more suitable for evaluating </a:t>
            </a:r>
            <a:r>
              <a:rPr lang="en-IN" sz="1400" kern="100" dirty="0" err="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highvolatility</a:t>
            </a:r>
            <a:r>
              <a:rPr lang="en-IN" sz="14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stocks like Tesla. </a:t>
            </a:r>
            <a:endParaRPr lang="en-IN"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0850" marR="38100" indent="0" algn="just">
              <a:lnSpc>
                <a:spcPct val="104000"/>
              </a:lnSpc>
              <a:spcAft>
                <a:spcPts val="2040"/>
              </a:spcAft>
              <a:buNone/>
            </a:pPr>
            <a:r>
              <a:rPr lang="en-IN" sz="1400" b="1"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Keywords:</a:t>
            </a:r>
            <a:r>
              <a:rPr lang="en-IN" sz="1400" kern="1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Tesla; stock market; machine learning; future price prediction.</a:t>
            </a:r>
            <a:r>
              <a:rPr lang="en-IN" sz="1400" b="1" i="1" kern="100" dirty="0">
                <a:solidFill>
                  <a:srgbClr val="FF0000"/>
                </a:solidFill>
                <a:effectLst/>
                <a:latin typeface="Times New Roman" panose="02020603050405020304" pitchFamily="18" charset="0"/>
                <a:ea typeface="Arial" panose="020B0604020202020204" pitchFamily="34" charset="0"/>
                <a:cs typeface="Times New Roman" panose="02020603050405020304" pitchFamily="18" charset="0"/>
              </a:rPr>
              <a:t> </a:t>
            </a:r>
            <a:endParaRPr lang="en-IN"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0" indent="0">
              <a:buNone/>
            </a:pPr>
            <a:br>
              <a:rPr lang="en-IN" sz="1400" dirty="0"/>
            </a:br>
            <a:endParaRPr lang="en-IN" sz="1400" dirty="0">
              <a:effectLst/>
              <a:latin typeface="Times New Roman" panose="02020603050405020304" pitchFamily="18" charset="0"/>
              <a:ea typeface="Times New Roman" panose="02020603050405020304" pitchFamily="18" charset="0"/>
            </a:endParaRPr>
          </a:p>
          <a:p>
            <a:pPr marL="0" marR="314325" lvl="0" indent="0" algn="just" rtl="0">
              <a:lnSpc>
                <a:spcPct val="115000"/>
              </a:lnSpc>
              <a:spcBef>
                <a:spcPts val="0"/>
              </a:spcBef>
              <a:spcAft>
                <a:spcPts val="0"/>
              </a:spcAft>
              <a:buClr>
                <a:schemeClr val="dk1"/>
              </a:buClr>
              <a:buSzPts val="1100"/>
              <a:buFont typeface="Arial"/>
              <a:buNone/>
            </a:pPr>
            <a:endParaRPr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8F53-6ECF-52A9-5997-D3A27F0A9A7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6B9EE64-B52B-C0A0-F03A-CCC74618C0A7}"/>
              </a:ext>
            </a:extLst>
          </p:cNvPr>
          <p:cNvSpPr>
            <a:spLocks noGrp="1"/>
          </p:cNvSpPr>
          <p:nvPr>
            <p:ph type="body" idx="1"/>
          </p:nvPr>
        </p:nvSpPr>
        <p:spPr/>
        <p:txBody>
          <a:bodyPr>
            <a:normAutofit fontScale="85000" lnSpcReduction="10000"/>
          </a:bodyPr>
          <a:lstStyle/>
          <a:p>
            <a:pPr marR="29210" indent="0" algn="just">
              <a:lnSpc>
                <a:spcPct val="101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stock market is a group of stockbrokers and dealers who buy and trade stock shares. A stock exchange is where many large firms' shares are traded. This improves the stock's liquidity, making it more enticing to investors [1]. A vast number of investors put large sums of money into the stock market. However, it is risky since stock values may quickly rise or decrease [2]. Because of this, forecasting stock prices is a difficult subject on which many scholars are working. </a:t>
            </a:r>
          </a:p>
          <a:p>
            <a:pPr marR="29210" indent="0" algn="just">
              <a:lnSpc>
                <a:spcPct val="101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predict stock prices, a variety of approaches have been utilized. Because statistical methodologies are linear in nature, they perform poorly in the event of a rapid spike or decrease in stock prices. Because stock data is unpredictable, volatile, non-stationary, and dependent on a variety of technical characteristics, statistical techniques have been proven to be insufficiently accurate [3]. </a:t>
            </a:r>
          </a:p>
          <a:p>
            <a:pPr marR="29210" indent="0" algn="just">
              <a:lnSpc>
                <a:spcPct val="101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open stock exchange trades stocks of publicly listed companies, whereas the private share exchange trades stocks of privately held businesses. Investments made through the mixed-ownership share trade are made in companies with ordinary shares that may only be exchanged publicly on rare occasions. Several countries, like the UK's London Stock Exchange and the US's New York Stock Exchange, have stock exchanges with mixed ownership [4-9]. </a:t>
            </a:r>
          </a:p>
          <a:p>
            <a:pPr marR="29210" indent="0" algn="just">
              <a:lnSpc>
                <a:spcPct val="101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Thus, all previous work has been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centered</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on reducing some metric that leads to estimates near the true stock price. However, this does not indicate that these forecasts will be profitable. </a:t>
            </a:r>
          </a:p>
          <a:p>
            <a:pPr marR="29210" indent="0" algn="just">
              <a:lnSpc>
                <a:spcPct val="101000"/>
              </a:lnSpc>
              <a:spcAft>
                <a:spcPts val="25"/>
              </a:spcAft>
              <a:buNone/>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experiment first collects data from Kaggle. Reprocess the data to remove any null values in the time series. And transform and normalize the data to make it compatible with the input of the model. Then use </a:t>
            </a:r>
            <a:r>
              <a:rPr lang="en-IN" sz="18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Matlab</a:t>
            </a: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implement the Linear Regression model [10], SVM model [11, 12], Random Forest model [13, 14], LSTM model [15], and ARIMA model [16, 17]. Finally, compare the performance of different models and propose further work and project expansion. </a:t>
            </a:r>
          </a:p>
          <a:p>
            <a:pPr marL="76200" indent="0">
              <a:buNone/>
            </a:pPr>
            <a:endParaRPr lang="en-IN" dirty="0"/>
          </a:p>
        </p:txBody>
      </p:sp>
    </p:spTree>
    <p:extLst>
      <p:ext uri="{BB962C8B-B14F-4D97-AF65-F5344CB8AC3E}">
        <p14:creationId xmlns:p14="http://schemas.microsoft.com/office/powerpoint/2010/main" val="345824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sym typeface="Calibri"/>
              </a:rPr>
              <a:t>LITERATURE SURVEY</a:t>
            </a:r>
            <a:endParaRPr b="1" dirty="0">
              <a:latin typeface="Times New Roman" panose="02020603050405020304" pitchFamily="18" charset="0"/>
              <a:cs typeface="Times New Roman" panose="02020603050405020304" pitchFamily="18" charset="0"/>
              <a:sym typeface="Calibri"/>
            </a:endParaRPr>
          </a:p>
        </p:txBody>
      </p:sp>
      <p:graphicFrame>
        <p:nvGraphicFramePr>
          <p:cNvPr id="155" name="Google Shape;155;p6"/>
          <p:cNvGraphicFramePr/>
          <p:nvPr>
            <p:extLst>
              <p:ext uri="{D42A27DB-BD31-4B8C-83A1-F6EECF244321}">
                <p14:modId xmlns:p14="http://schemas.microsoft.com/office/powerpoint/2010/main" val="1445441934"/>
              </p:ext>
            </p:extLst>
          </p:nvPr>
        </p:nvGraphicFramePr>
        <p:xfrm>
          <a:off x="487300" y="1022125"/>
          <a:ext cx="8184425" cy="4639450"/>
        </p:xfrm>
        <a:graphic>
          <a:graphicData uri="http://schemas.openxmlformats.org/drawingml/2006/table">
            <a:tbl>
              <a:tblPr>
                <a:noFill/>
                <a:tableStyleId>{9B2FBFC6-B900-4C24-9E69-20D259D9EA4D}</a:tableStyleId>
              </a:tblPr>
              <a:tblGrid>
                <a:gridCol w="834325">
                  <a:extLst>
                    <a:ext uri="{9D8B030D-6E8A-4147-A177-3AD203B41FA5}">
                      <a16:colId xmlns:a16="http://schemas.microsoft.com/office/drawing/2014/main" val="20000"/>
                    </a:ext>
                  </a:extLst>
                </a:gridCol>
                <a:gridCol w="3145325">
                  <a:extLst>
                    <a:ext uri="{9D8B030D-6E8A-4147-A177-3AD203B41FA5}">
                      <a16:colId xmlns:a16="http://schemas.microsoft.com/office/drawing/2014/main" val="20001"/>
                    </a:ext>
                  </a:extLst>
                </a:gridCol>
                <a:gridCol w="2890225">
                  <a:extLst>
                    <a:ext uri="{9D8B030D-6E8A-4147-A177-3AD203B41FA5}">
                      <a16:colId xmlns:a16="http://schemas.microsoft.com/office/drawing/2014/main" val="20002"/>
                    </a:ext>
                  </a:extLst>
                </a:gridCol>
                <a:gridCol w="13145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SI.NO</a:t>
                      </a:r>
                      <a:endParaRPr b="1" dirty="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NAME OF THE PAPER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AUTHOR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YEAR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t>1.</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marR="0" lvl="0" indent="0" algn="just" defTabSz="914400" rtl="0" eaLnBrk="1" fontAlgn="auto" latinLnBrk="0" hangingPunct="1">
                        <a:lnSpc>
                          <a:spcPct val="150000"/>
                        </a:lnSpc>
                        <a:spcBef>
                          <a:spcPts val="0"/>
                        </a:spcBef>
                        <a:spcAft>
                          <a:spcPts val="156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Deep Learning for Tesla’s Stock Prices Prediction</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 P. Kaul, V. Sharma, and N. Sharma</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t>2023</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64397">
                <a:tc>
                  <a:txBody>
                    <a:bodyPr/>
                    <a:lstStyle/>
                    <a:p>
                      <a:pPr marL="0" lvl="0" indent="0" algn="l" rtl="0">
                        <a:spcBef>
                          <a:spcPts val="0"/>
                        </a:spcBef>
                        <a:spcAft>
                          <a:spcPts val="0"/>
                        </a:spcAft>
                        <a:buNone/>
                      </a:pPr>
                      <a:r>
                        <a:rPr lang="en-US"/>
                        <a:t>2.</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An Analysis on Tesla’s Stock Price Forecasting Using ARIMA Model</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S. Kumar, R. Jain</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rPr>
                        <a:t>2022</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t>3.</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Stock Prices Prediction Using Machine Learning.</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S. Patel, M. Shah</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2021</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a:t>4.</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Tesla Stock Price Prediction using Machine Learning</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A. </a:t>
                      </a:r>
                      <a:r>
                        <a:rPr lang="en-US" dirty="0" err="1">
                          <a:solidFill>
                            <a:schemeClr val="dk1"/>
                          </a:solidFill>
                          <a:latin typeface="Times New Roman"/>
                          <a:ea typeface="Times New Roman"/>
                          <a:cs typeface="Times New Roman"/>
                          <a:sym typeface="Times New Roman"/>
                        </a:rPr>
                        <a:t>Khlement</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IN" dirty="0">
                          <a:solidFill>
                            <a:schemeClr val="dk1"/>
                          </a:solidFill>
                        </a:rPr>
                        <a:t>2022</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a:t>5.</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A Fuzzy Multi-Criteria Evaluation System for Share Price Prediction: A Case Study of Tesla Inc.</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R.Debnath</a:t>
                      </a: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P. Srivastava	</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2020</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BD484-F8C3-A5DB-CDCC-EFCC0087B64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LITERATURE SURVEY</a:t>
            </a:r>
          </a:p>
        </p:txBody>
      </p:sp>
      <p:graphicFrame>
        <p:nvGraphicFramePr>
          <p:cNvPr id="4" name="Google Shape;155;p6">
            <a:extLst>
              <a:ext uri="{FF2B5EF4-FFF2-40B4-BE49-F238E27FC236}">
                <a16:creationId xmlns:a16="http://schemas.microsoft.com/office/drawing/2014/main" id="{1E785DCD-E2A4-6985-3E0F-88DB2D4D517E}"/>
              </a:ext>
            </a:extLst>
          </p:cNvPr>
          <p:cNvGraphicFramePr/>
          <p:nvPr>
            <p:extLst>
              <p:ext uri="{D42A27DB-BD31-4B8C-83A1-F6EECF244321}">
                <p14:modId xmlns:p14="http://schemas.microsoft.com/office/powerpoint/2010/main" val="406315040"/>
              </p:ext>
            </p:extLst>
          </p:nvPr>
        </p:nvGraphicFramePr>
        <p:xfrm>
          <a:off x="487300" y="1022125"/>
          <a:ext cx="8184425" cy="4639196"/>
        </p:xfrm>
        <a:graphic>
          <a:graphicData uri="http://schemas.openxmlformats.org/drawingml/2006/table">
            <a:tbl>
              <a:tblPr>
                <a:noFill/>
                <a:tableStyleId>{9B2FBFC6-B900-4C24-9E69-20D259D9EA4D}</a:tableStyleId>
              </a:tblPr>
              <a:tblGrid>
                <a:gridCol w="834325">
                  <a:extLst>
                    <a:ext uri="{9D8B030D-6E8A-4147-A177-3AD203B41FA5}">
                      <a16:colId xmlns:a16="http://schemas.microsoft.com/office/drawing/2014/main" val="20000"/>
                    </a:ext>
                  </a:extLst>
                </a:gridCol>
                <a:gridCol w="3145325">
                  <a:extLst>
                    <a:ext uri="{9D8B030D-6E8A-4147-A177-3AD203B41FA5}">
                      <a16:colId xmlns:a16="http://schemas.microsoft.com/office/drawing/2014/main" val="20001"/>
                    </a:ext>
                  </a:extLst>
                </a:gridCol>
                <a:gridCol w="2890225">
                  <a:extLst>
                    <a:ext uri="{9D8B030D-6E8A-4147-A177-3AD203B41FA5}">
                      <a16:colId xmlns:a16="http://schemas.microsoft.com/office/drawing/2014/main" val="20002"/>
                    </a:ext>
                  </a:extLst>
                </a:gridCol>
                <a:gridCol w="13145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SI.NO</a:t>
                      </a:r>
                      <a:endParaRPr b="1" dirty="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NAME OF THE PAPER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AUTHOR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dirty="0">
                          <a:latin typeface="Times New Roman"/>
                          <a:ea typeface="Times New Roman"/>
                          <a:cs typeface="Times New Roman"/>
                          <a:sym typeface="Times New Roman"/>
                        </a:rPr>
                        <a:t>YEAR</a:t>
                      </a:r>
                      <a:endParaRPr b="1" dirty="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dirty="0"/>
                        <a:t>6.</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marR="0" lvl="0" indent="0" algn="just" defTabSz="914400" rtl="0" eaLnBrk="1" fontAlgn="auto" latinLnBrk="0" hangingPunct="1">
                        <a:lnSpc>
                          <a:spcPct val="150000"/>
                        </a:lnSpc>
                        <a:spcBef>
                          <a:spcPts val="0"/>
                        </a:spcBef>
                        <a:spcAft>
                          <a:spcPts val="1560"/>
                        </a:spcAft>
                        <a:buClr>
                          <a:srgbClr val="000000"/>
                        </a:buClr>
                        <a:buSzTx/>
                        <a:buFont typeface="Arial"/>
                        <a:buNone/>
                        <a:tabLst/>
                        <a:defRPr/>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Predictions of Tesla Stock Price Based on Machine Learning Model</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None/>
                      </a:pP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N. M. </a:t>
                      </a:r>
                      <a:r>
                        <a:rPr lang="en-US" sz="1400" b="0" i="0" u="none" strike="noStrike" cap="none" dirty="0" err="1">
                          <a:solidFill>
                            <a:srgbClr val="000000"/>
                          </a:solidFill>
                          <a:effectLst/>
                          <a:latin typeface="Times New Roman" panose="02020603050405020304" pitchFamily="18" charset="0"/>
                          <a:ea typeface="Arial"/>
                          <a:cs typeface="Times New Roman" panose="02020603050405020304" pitchFamily="18" charset="0"/>
                          <a:sym typeface="Arial"/>
                        </a:rPr>
                        <a:t>Polanki</a:t>
                      </a:r>
                      <a:r>
                        <a:rPr lang="en-US" sz="1400" b="0" i="0" u="none" strike="noStrike" cap="none" dirty="0">
                          <a:solidFill>
                            <a:srgbClr val="000000"/>
                          </a:solidFill>
                          <a:effectLst/>
                          <a:latin typeface="Times New Roman" panose="02020603050405020304" pitchFamily="18" charset="0"/>
                          <a:ea typeface="Arial"/>
                          <a:cs typeface="Times New Roman" panose="02020603050405020304" pitchFamily="18" charset="0"/>
                          <a:sym typeface="Arial"/>
                        </a:rPr>
                        <a:t>, R. D. Kusuma, S. K. Basha, et al.</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t>2023</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64397">
                <a:tc>
                  <a:txBody>
                    <a:bodyPr/>
                    <a:lstStyle/>
                    <a:p>
                      <a:pPr marL="0" lvl="0" indent="0" algn="l" rtl="0">
                        <a:spcBef>
                          <a:spcPts val="0"/>
                        </a:spcBef>
                        <a:spcAft>
                          <a:spcPts val="0"/>
                        </a:spcAft>
                        <a:buNone/>
                      </a:pPr>
                      <a:r>
                        <a:rPr lang="en-US" dirty="0"/>
                        <a:t>7.</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Forecasting Tesla’s Stock Price Using Autoregression</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B. Van Oost</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solidFill>
                            <a:schemeClr val="dk1"/>
                          </a:solidFill>
                        </a:rPr>
                        <a:t>2020</a:t>
                      </a:r>
                      <a:endParaRPr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dirty="0"/>
                        <a:t>8.</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Tesla Stock Price Timeseries Analysis and Forecasting</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56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J. Lee, H. Kim</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2022</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dirty="0"/>
                        <a:t>9.</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Comparative Study of Machine Learning Models for Stock Price Prediction</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T. Zhang, A. Brown</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IN" dirty="0">
                          <a:solidFill>
                            <a:schemeClr val="dk1"/>
                          </a:solidFill>
                        </a:rPr>
                        <a:t>2022</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dirty="0"/>
                        <a:t>10.</a:t>
                      </a:r>
                      <a:endParaRPr dirty="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Arial"/>
                          <a:ea typeface="Arial"/>
                          <a:cs typeface="Arial"/>
                          <a:sym typeface="Arial"/>
                        </a:rPr>
                        <a:t>Stock Price Prediction using Machine Learning and Deep Learning</a:t>
                      </a:r>
                      <a:endParaRPr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lnSpc>
                          <a:spcPct val="150000"/>
                        </a:lnSpc>
                        <a:spcBef>
                          <a:spcPts val="0"/>
                        </a:spcBef>
                        <a:spcAft>
                          <a:spcPts val="1200"/>
                        </a:spcAft>
                        <a:buClr>
                          <a:schemeClr val="dk1"/>
                        </a:buClr>
                        <a:buSzPts val="1100"/>
                        <a:buFont typeface="Arial"/>
                        <a:buNone/>
                      </a:pPr>
                      <a:r>
                        <a:rPr lang="en-US" sz="1400" b="0" i="0" u="none" strike="noStrike" cap="none" dirty="0">
                          <a:solidFill>
                            <a:srgbClr val="000000"/>
                          </a:solidFill>
                          <a:effectLst/>
                          <a:latin typeface="Arial"/>
                          <a:ea typeface="Arial"/>
                          <a:cs typeface="Arial"/>
                          <a:sym typeface="Arial"/>
                        </a:rPr>
                        <a:t> M. Tiwari, P. S. Chauhan  </a:t>
                      </a:r>
                      <a:endParaRPr dirty="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rPr>
                        <a:t>2021</a:t>
                      </a:r>
                      <a:endParaRPr dirty="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31583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190500" y="106363"/>
            <a:ext cx="8763000" cy="8079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EXISTING SYSTEM</a:t>
            </a:r>
            <a:endParaRPr b="1">
              <a:latin typeface="Times New Roman"/>
              <a:ea typeface="Times New Roman"/>
              <a:cs typeface="Times New Roman"/>
              <a:sym typeface="Times New Roman"/>
            </a:endParaRPr>
          </a:p>
        </p:txBody>
      </p:sp>
      <p:sp>
        <p:nvSpPr>
          <p:cNvPr id="120" name="Google Shape;120;p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76200" indent="0" algn="l">
              <a:buNone/>
            </a:pPr>
            <a:r>
              <a:rPr lang="en-US" sz="1800" dirty="0">
                <a:latin typeface="Times New Roman" panose="02020603050405020304" pitchFamily="18" charset="0"/>
                <a:cs typeface="Times New Roman" panose="02020603050405020304" pitchFamily="18" charset="0"/>
              </a:rPr>
              <a:t>The existing system for predicting Tesla's stock price typically involves a combination of quantitative and qualitative methods. Quantitative approaches include statistical models and machine learning techniques that analyze historical price data, trading volumes, financial indicators, and macroeconomic variables. Common models used are time series analysis (like ARIMA), regression models, and more advanced neural networks such as Long Short-Term Memory (LSTM) networks and Convolutional Neural Networks (CNNs). These models can identify patterns and trends that might not be immediately obvious to human </a:t>
            </a:r>
            <a:r>
              <a:rPr lang="en-US" sz="1800" dirty="0" err="1">
                <a:latin typeface="Times New Roman" panose="02020603050405020304" pitchFamily="18" charset="0"/>
                <a:cs typeface="Times New Roman" panose="02020603050405020304" pitchFamily="18" charset="0"/>
              </a:rPr>
              <a:t>analysts.Integrating</a:t>
            </a:r>
            <a:r>
              <a:rPr lang="en-US" sz="1800" dirty="0">
                <a:latin typeface="Times New Roman" panose="02020603050405020304" pitchFamily="18" charset="0"/>
                <a:cs typeface="Times New Roman" panose="02020603050405020304" pitchFamily="18" charset="0"/>
              </a:rPr>
              <a:t> these approaches, sophisticated trading algorithms and prediction systems continuously update their forecasts based on new data. These systems may also factor in real-time events such as earnings reports, product launches, regulatory changes, and broader market movements. The goal is to create a dynamic and adaptive model that can provide accurate and timely predictions to inform investment strategies.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PROPOSED SYSTEM</a:t>
            </a:r>
            <a:endParaRPr b="1" dirty="0">
              <a:latin typeface="Times New Roman"/>
              <a:ea typeface="Times New Roman"/>
              <a:cs typeface="Times New Roman"/>
              <a:sym typeface="Times New Roman"/>
            </a:endParaRPr>
          </a:p>
        </p:txBody>
      </p:sp>
      <p:sp>
        <p:nvSpPr>
          <p:cNvPr id="127" name="Google Shape;127;p1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177800" marR="393700" indent="0" algn="just">
              <a:lnSpc>
                <a:spcPct val="115000"/>
              </a:lnSpc>
              <a:spcBef>
                <a:spcPts val="0"/>
              </a:spcBef>
              <a:buSzPts val="1100"/>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prediction of Tesla's stock price by including a variety of machine learning and statistical models offer an alluring avenue for in-depth investigation. To predict when Tesla's stock will rise price with accuracy and dependability, the suggested work intends to take advantage of the advantages of Linear Regression, Support Vector Machines (SVM), Random Forest, Long Short-Term Memory (LSTM) networks, and Autoregressive Integrated Moving Average (ARIMA)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models.To</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guarantee data quality and consistency, the dataset containing past Tesla stock prices and pertinent predictors will first be gathered and preprocessed. Features engineering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techniqes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will be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utilised</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extract helpful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featurs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which capture the basic mechanics of the changes in Tesla's stock price. For the purpose of preparing the data inputs for further modeling, this preprocessing phase is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essential,with</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each of the selected algorithms</a:t>
            </a:r>
            <a:r>
              <a:rPr lang="en-US" sz="1800" dirty="0">
                <a:solidFill>
                  <a:srgbClr val="000000"/>
                </a:solidFill>
                <a:effectLst/>
                <a:latin typeface="Times New Roman" panose="02020603050405020304" pitchFamily="18" charset="0"/>
                <a:ea typeface="Times New Roman" panose="02020603050405020304" pitchFamily="18" charset="0"/>
              </a:rPr>
              <a:t>.</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lvl="0"/>
            <a:r>
              <a:rPr lang="en-US" b="1" dirty="0">
                <a:latin typeface="Times New Roman" panose="02020603050405020304" pitchFamily="18" charset="0"/>
                <a:cs typeface="Times New Roman" panose="02020603050405020304" pitchFamily="18" charset="0"/>
              </a:rPr>
              <a:t>PROPOSED </a:t>
            </a:r>
            <a:r>
              <a:rPr lang="en-US" b="1" dirty="0">
                <a:latin typeface="Times New Roman" panose="02020603050405020304" pitchFamily="18" charset="0"/>
                <a:cs typeface="Times New Roman" panose="02020603050405020304" pitchFamily="18" charset="0"/>
                <a:sym typeface="Calibri"/>
              </a:rPr>
              <a:t>METHODOLOGY</a:t>
            </a:r>
            <a:endParaRPr b="1" dirty="0">
              <a:latin typeface="Times New Roman" panose="02020603050405020304" pitchFamily="18" charset="0"/>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572D2B9D-CB3F-85F2-DD31-6CAE552182BD}"/>
              </a:ext>
            </a:extLst>
          </p:cNvPr>
          <p:cNvSpPr txBox="1"/>
          <p:nvPr/>
        </p:nvSpPr>
        <p:spPr>
          <a:xfrm>
            <a:off x="419449" y="1073791"/>
            <a:ext cx="8221211" cy="2000548"/>
          </a:xfrm>
          <a:prstGeom prst="rect">
            <a:avLst/>
          </a:prstGeom>
          <a:noFill/>
        </p:spPr>
        <p:txBody>
          <a:bodyPr wrap="square">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F290B04-88D7-EA18-2045-41E16A910E62}"/>
              </a:ext>
            </a:extLst>
          </p:cNvPr>
          <p:cNvPicPr>
            <a:picLocks noChangeAspect="1"/>
          </p:cNvPicPr>
          <p:nvPr/>
        </p:nvPicPr>
        <p:blipFill>
          <a:blip r:embed="rId3"/>
          <a:stretch>
            <a:fillRect/>
          </a:stretch>
        </p:blipFill>
        <p:spPr>
          <a:xfrm>
            <a:off x="190500" y="1136335"/>
            <a:ext cx="8763000" cy="49540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RESULTS AND DISCUSSIONS</a:t>
            </a:r>
            <a:endParaRPr b="1" dirty="0">
              <a:latin typeface="Times New Roman"/>
              <a:ea typeface="Times New Roman"/>
              <a:cs typeface="Times New Roman"/>
              <a:sym typeface="Times New Roman"/>
            </a:endParaRPr>
          </a:p>
        </p:txBody>
      </p:sp>
      <p:sp>
        <p:nvSpPr>
          <p:cNvPr id="176" name="Google Shape;176;p11"/>
          <p:cNvSpPr txBox="1">
            <a:spLocks noGrp="1"/>
          </p:cNvSpPr>
          <p:nvPr>
            <p:ph type="body" idx="1"/>
          </p:nvPr>
        </p:nvSpPr>
        <p:spPr>
          <a:xfrm>
            <a:off x="190500" y="944163"/>
            <a:ext cx="8442223" cy="4935527"/>
          </a:xfrm>
          <a:prstGeom prst="rect">
            <a:avLst/>
          </a:prstGeom>
          <a:noFill/>
          <a:ln>
            <a:noFill/>
          </a:ln>
        </p:spPr>
        <p:txBody>
          <a:bodyPr spcFirstLastPara="1" wrap="square" lIns="91425" tIns="45700" rIns="91425" bIns="45700" anchor="t" anchorCtr="0">
            <a:normAutofit/>
          </a:bodyPr>
          <a:lstStyle/>
          <a:p>
            <a:pPr marL="76200" lvl="0" indent="0" algn="l" rtl="0">
              <a:lnSpc>
                <a:spcPct val="114000"/>
              </a:lnSpc>
              <a:spcBef>
                <a:spcPts val="480"/>
              </a:spcBef>
              <a:spcAft>
                <a:spcPts val="0"/>
              </a:spcAft>
              <a:buSzPts val="2400"/>
              <a:buNone/>
            </a:pPr>
            <a:r>
              <a:rPr lang="en-US" sz="1600" dirty="0">
                <a:latin typeface="Times New Roman" panose="02020603050405020304" pitchFamily="18" charset="0"/>
                <a:cs typeface="Times New Roman" panose="02020603050405020304" pitchFamily="18" charset="0"/>
              </a:rPr>
              <a:t>The stock values of the firm Tesla Inc. are listed in the research's data. On June 29, 2010, Tesla began trading publicly. The business has raised US $226 million through its IPO. The original share price of the stock was $17.00 USD. In the eleven years since the stock became public, it has grown by over 4144%, and it is currently listed at roughly US$ 721 per share.</a:t>
            </a:r>
            <a:endParaRPr lang="en-IN" sz="1600" b="1" dirty="0">
              <a:solidFill>
                <a:srgbClr val="000000"/>
              </a:solidFill>
              <a:latin typeface="Times New Roman" panose="02020603050405020304" pitchFamily="18" charset="0"/>
              <a:cs typeface="Times New Roman" panose="02020603050405020304" pitchFamily="18" charset="0"/>
            </a:endParaRPr>
          </a:p>
          <a:p>
            <a:pPr marL="76200" lvl="0" indent="0" algn="l" rtl="0">
              <a:lnSpc>
                <a:spcPct val="114000"/>
              </a:lnSpc>
              <a:spcBef>
                <a:spcPts val="480"/>
              </a:spcBef>
              <a:spcAft>
                <a:spcPts val="0"/>
              </a:spcAft>
              <a:buSzPts val="2400"/>
              <a:buNone/>
            </a:pPr>
            <a:endParaRPr lang="en-IN" sz="1800" b="1" i="0" u="none" strike="noStrike" dirty="0">
              <a:solidFill>
                <a:srgbClr val="000000"/>
              </a:solidFill>
              <a:effectLst/>
              <a:latin typeface="Times New Roman" panose="02020603050405020304" pitchFamily="18" charset="0"/>
            </a:endParaRPr>
          </a:p>
          <a:p>
            <a:pPr marL="76200" lvl="0" indent="0" algn="l" rtl="0">
              <a:lnSpc>
                <a:spcPct val="114000"/>
              </a:lnSpc>
              <a:spcBef>
                <a:spcPts val="480"/>
              </a:spcBef>
              <a:spcAft>
                <a:spcPts val="0"/>
              </a:spcAft>
              <a:buSzPts val="2400"/>
              <a:buNone/>
            </a:pPr>
            <a:r>
              <a:rPr lang="en-IN" sz="1800" b="1" i="0" u="none" strike="noStrike" dirty="0">
                <a:solidFill>
                  <a:srgbClr val="000000"/>
                </a:solidFill>
                <a:effectLst/>
                <a:latin typeface="Times New Roman" panose="02020603050405020304" pitchFamily="18" charset="0"/>
              </a:rPr>
              <a:t>                                          </a:t>
            </a:r>
            <a:endParaRPr b="1" dirty="0">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44BFB18-FD31-7114-7ABB-F7F61CD76325}"/>
              </a:ext>
            </a:extLst>
          </p:cNvPr>
          <p:cNvPicPr>
            <a:picLocks noChangeAspect="1"/>
          </p:cNvPicPr>
          <p:nvPr/>
        </p:nvPicPr>
        <p:blipFill>
          <a:blip r:embed="rId3"/>
          <a:stretch>
            <a:fillRect/>
          </a:stretch>
        </p:blipFill>
        <p:spPr>
          <a:xfrm>
            <a:off x="511277" y="2441197"/>
            <a:ext cx="7173763" cy="2634142"/>
          </a:xfrm>
          <a:prstGeom prst="rect">
            <a:avLst/>
          </a:prstGeom>
        </p:spPr>
      </p:pic>
    </p:spTree>
    <p:extLst>
      <p:ext uri="{BB962C8B-B14F-4D97-AF65-F5344CB8AC3E}">
        <p14:creationId xmlns:p14="http://schemas.microsoft.com/office/powerpoint/2010/main" val="150961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IN" b="1" dirty="0">
                <a:latin typeface="Times New Roman"/>
                <a:ea typeface="Times New Roman"/>
                <a:cs typeface="Times New Roman"/>
                <a:sym typeface="Times New Roman"/>
              </a:rPr>
              <a:t>RESULTS AND DISCUSSION</a:t>
            </a:r>
            <a:endParaRPr b="1" dirty="0">
              <a:latin typeface="Times New Roman"/>
              <a:ea typeface="Times New Roman"/>
              <a:cs typeface="Times New Roman"/>
              <a:sym typeface="Times New Roman"/>
            </a:endParaRPr>
          </a:p>
        </p:txBody>
      </p:sp>
      <p:sp>
        <p:nvSpPr>
          <p:cNvPr id="162" name="Google Shape;162;p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95250" lvl="0" indent="0" algn="l" rtl="0">
              <a:lnSpc>
                <a:spcPct val="115000"/>
              </a:lnSpc>
              <a:spcBef>
                <a:spcPts val="0"/>
              </a:spcBef>
              <a:spcAft>
                <a:spcPts val="0"/>
              </a:spcAft>
              <a:buClr>
                <a:srgbClr val="0D0D0D"/>
              </a:buClr>
              <a:buSzPts val="2100"/>
              <a:buNone/>
            </a:pPr>
            <a:r>
              <a:rPr lang="en-US" sz="1800" dirty="0">
                <a:latin typeface="Times New Roman" panose="02020603050405020304" pitchFamily="18" charset="0"/>
                <a:cs typeface="Times New Roman" panose="02020603050405020304" pitchFamily="18" charset="0"/>
              </a:rPr>
              <a:t>The NASDAQ index lists Tesla's shares. Elon Musk, the richest man in the world at the time of its founding, has served as its CEO and has overseen operations in several nations. Since becoming the company's CEO in 2008, Musk has consistently surpassed expectations and overcome obstacles. The LSTM, SVM, Random Forest, and Linear Regression models' training outcomes are shown in Tables 1, 4, 7, and 10. The results show how reliable and strong the deep learning model is at predicting the current value based on the training data. Low forecast error rates are observed in Random Forest, as measured by the RMSE (0.56248).</a:t>
            </a:r>
          </a:p>
          <a:p>
            <a:pPr marL="95250" lvl="0" indent="0" algn="l" rtl="0">
              <a:lnSpc>
                <a:spcPct val="115000"/>
              </a:lnSpc>
              <a:spcBef>
                <a:spcPts val="0"/>
              </a:spcBef>
              <a:spcAft>
                <a:spcPts val="0"/>
              </a:spcAft>
              <a:buClr>
                <a:srgbClr val="0D0D0D"/>
              </a:buClr>
              <a:buSzPts val="2100"/>
              <a:buNone/>
            </a:pP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7B4A35D-B587-AA4B-F1F7-47455895D093}"/>
              </a:ext>
            </a:extLst>
          </p:cNvPr>
          <p:cNvPicPr>
            <a:picLocks noChangeAspect="1"/>
          </p:cNvPicPr>
          <p:nvPr/>
        </p:nvPicPr>
        <p:blipFill>
          <a:blip r:embed="rId3"/>
          <a:stretch>
            <a:fillRect/>
          </a:stretch>
        </p:blipFill>
        <p:spPr>
          <a:xfrm>
            <a:off x="190500" y="3657600"/>
            <a:ext cx="3845653" cy="1732358"/>
          </a:xfrm>
          <a:prstGeom prst="rect">
            <a:avLst/>
          </a:prstGeom>
        </p:spPr>
      </p:pic>
      <p:pic>
        <p:nvPicPr>
          <p:cNvPr id="7" name="Picture 6">
            <a:extLst>
              <a:ext uri="{FF2B5EF4-FFF2-40B4-BE49-F238E27FC236}">
                <a16:creationId xmlns:a16="http://schemas.microsoft.com/office/drawing/2014/main" id="{2AC1B15C-73BC-003F-4463-5C29FB8E1FA0}"/>
              </a:ext>
            </a:extLst>
          </p:cNvPr>
          <p:cNvPicPr>
            <a:picLocks noChangeAspect="1"/>
          </p:cNvPicPr>
          <p:nvPr/>
        </p:nvPicPr>
        <p:blipFill>
          <a:blip r:embed="rId4"/>
          <a:stretch>
            <a:fillRect/>
          </a:stretch>
        </p:blipFill>
        <p:spPr>
          <a:xfrm>
            <a:off x="4165964" y="3429000"/>
            <a:ext cx="4726366" cy="922789"/>
          </a:xfrm>
          <a:prstGeom prst="rect">
            <a:avLst/>
          </a:prstGeom>
        </p:spPr>
      </p:pic>
      <p:pic>
        <p:nvPicPr>
          <p:cNvPr id="12" name="Picture 11">
            <a:extLst>
              <a:ext uri="{FF2B5EF4-FFF2-40B4-BE49-F238E27FC236}">
                <a16:creationId xmlns:a16="http://schemas.microsoft.com/office/drawing/2014/main" id="{63875D6A-4E85-749C-2E2E-F57B982BC44E}"/>
              </a:ext>
            </a:extLst>
          </p:cNvPr>
          <p:cNvPicPr>
            <a:picLocks noChangeAspect="1"/>
          </p:cNvPicPr>
          <p:nvPr/>
        </p:nvPicPr>
        <p:blipFill>
          <a:blip r:embed="rId5"/>
          <a:stretch>
            <a:fillRect/>
          </a:stretch>
        </p:blipFill>
        <p:spPr>
          <a:xfrm>
            <a:off x="4759070" y="4523779"/>
            <a:ext cx="3540154" cy="7270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0CB6-5831-F6B7-49F3-F5B02F6A42B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OUTPUT</a:t>
            </a:r>
          </a:p>
        </p:txBody>
      </p:sp>
      <p:sp>
        <p:nvSpPr>
          <p:cNvPr id="3" name="Text Placeholder 2">
            <a:extLst>
              <a:ext uri="{FF2B5EF4-FFF2-40B4-BE49-F238E27FC236}">
                <a16:creationId xmlns:a16="http://schemas.microsoft.com/office/drawing/2014/main" id="{E44B067E-01CF-0055-1F8B-3D0B0C0095E9}"/>
              </a:ext>
            </a:extLst>
          </p:cNvPr>
          <p:cNvSpPr>
            <a:spLocks noGrp="1"/>
          </p:cNvSpPr>
          <p:nvPr>
            <p:ph type="body" idx="1"/>
          </p:nvPr>
        </p:nvSpPr>
        <p:spPr/>
        <p:txBody>
          <a:bodyPr/>
          <a:lstStyle/>
          <a:p>
            <a:pPr marL="76200" indent="0">
              <a:buNone/>
            </a:pPr>
            <a:r>
              <a:rPr lang="en-US" sz="1800" dirty="0">
                <a:latin typeface="Times New Roman" panose="02020603050405020304" pitchFamily="18" charset="0"/>
                <a:cs typeface="Times New Roman" panose="02020603050405020304" pitchFamily="18" charset="0"/>
              </a:rPr>
              <a:t>The Tesla stock price prediction output is generated using a combination of historical data analysis, machine learning models, and sentiment analysis to forecast future price movements.</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5452659-FD8E-83DE-08A2-BC11B001ECD7}"/>
              </a:ext>
            </a:extLst>
          </p:cNvPr>
          <p:cNvPicPr>
            <a:picLocks noChangeAspect="1"/>
          </p:cNvPicPr>
          <p:nvPr/>
        </p:nvPicPr>
        <p:blipFill>
          <a:blip r:embed="rId2"/>
          <a:stretch>
            <a:fillRect/>
          </a:stretch>
        </p:blipFill>
        <p:spPr>
          <a:xfrm>
            <a:off x="327170" y="2193022"/>
            <a:ext cx="6425967" cy="3422708"/>
          </a:xfrm>
          <a:prstGeom prst="rect">
            <a:avLst/>
          </a:prstGeom>
        </p:spPr>
      </p:pic>
    </p:spTree>
    <p:extLst>
      <p:ext uri="{BB962C8B-B14F-4D97-AF65-F5344CB8AC3E}">
        <p14:creationId xmlns:p14="http://schemas.microsoft.com/office/powerpoint/2010/main" val="1261787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2DDA8-603F-CCE1-ECCF-52046DF526A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COMPARATIVE ANALYSIS</a:t>
            </a:r>
          </a:p>
        </p:txBody>
      </p:sp>
      <p:sp>
        <p:nvSpPr>
          <p:cNvPr id="3" name="Text Placeholder 2">
            <a:extLst>
              <a:ext uri="{FF2B5EF4-FFF2-40B4-BE49-F238E27FC236}">
                <a16:creationId xmlns:a16="http://schemas.microsoft.com/office/drawing/2014/main" id="{B525C272-12A1-7063-0372-2E9DD3E32DFB}"/>
              </a:ext>
            </a:extLst>
          </p:cNvPr>
          <p:cNvSpPr>
            <a:spLocks noGrp="1"/>
          </p:cNvSpPr>
          <p:nvPr>
            <p:ph type="body" idx="1"/>
          </p:nvPr>
        </p:nvSpPr>
        <p:spPr/>
        <p:txBody>
          <a:bodyPr/>
          <a:lstStyle/>
          <a:p>
            <a:pPr marL="76200" indent="0">
              <a:buNone/>
            </a:pPr>
            <a:r>
              <a:rPr lang="en-US" sz="1800" dirty="0">
                <a:solidFill>
                  <a:srgbClr val="000000"/>
                </a:solidFill>
                <a:effectLst/>
                <a:latin typeface="Times New Roman" panose="02020603050405020304" pitchFamily="18" charset="0"/>
                <a:ea typeface="Times New Roman" panose="02020603050405020304" pitchFamily="18" charset="0"/>
              </a:rPr>
              <a:t>By using techniques such as Linear regression, Random Forest, and </a:t>
            </a:r>
            <a:r>
              <a:rPr lang="en-US" sz="1800" dirty="0">
                <a:solidFill>
                  <a:srgbClr val="000000"/>
                </a:solidFill>
                <a:latin typeface="Times New Roman" panose="02020603050405020304" pitchFamily="18" charset="0"/>
                <a:ea typeface="Times New Roman" panose="02020603050405020304" pitchFamily="18" charset="0"/>
              </a:rPr>
              <a:t>SVM </a:t>
            </a:r>
            <a:r>
              <a:rPr lang="en-US" sz="1800" dirty="0">
                <a:solidFill>
                  <a:srgbClr val="000000"/>
                </a:solidFill>
                <a:effectLst/>
                <a:latin typeface="Times New Roman" panose="02020603050405020304" pitchFamily="18" charset="0"/>
                <a:ea typeface="Times New Roman" panose="02020603050405020304" pitchFamily="18" charset="0"/>
              </a:rPr>
              <a:t>algorithm, we can analyze the location of the Market, store type and predict future sales. From the proposed approach it was found that for the model evaluation </a:t>
            </a:r>
            <a:r>
              <a:rPr lang="en-US" sz="1800" dirty="0">
                <a:solidFill>
                  <a:srgbClr val="000000"/>
                </a:solidFill>
                <a:latin typeface="Times New Roman" panose="02020603050405020304" pitchFamily="18" charset="0"/>
                <a:ea typeface="Times New Roman" panose="02020603050405020304" pitchFamily="18" charset="0"/>
              </a:rPr>
              <a:t>SVM</a:t>
            </a:r>
            <a:r>
              <a:rPr lang="en-US" sz="1800" dirty="0">
                <a:solidFill>
                  <a:srgbClr val="000000"/>
                </a:solidFill>
                <a:effectLst/>
                <a:latin typeface="Times New Roman" panose="02020603050405020304" pitchFamily="18" charset="0"/>
                <a:ea typeface="Times New Roman" panose="02020603050405020304" pitchFamily="18" charset="0"/>
              </a:rPr>
              <a:t> algorithm is more accurate than other models and gives the predicted outcomes.</a:t>
            </a:r>
          </a:p>
          <a:p>
            <a:pPr marL="76200" indent="0">
              <a:buNone/>
            </a:pPr>
            <a:endParaRPr lang="en-US" sz="1800" dirty="0">
              <a:solidFill>
                <a:srgbClr val="000000"/>
              </a:solidFill>
              <a:latin typeface="Times New Roman" panose="02020603050405020304" pitchFamily="18" charset="0"/>
            </a:endParaRPr>
          </a:p>
          <a:p>
            <a:pPr marL="76200" indent="0">
              <a:buNone/>
            </a:pPr>
            <a:endParaRPr lang="en-US" sz="1800" dirty="0">
              <a:solidFill>
                <a:srgbClr val="000000"/>
              </a:solidFill>
              <a:latin typeface="Times New Roman" panose="02020603050405020304" pitchFamily="18" charset="0"/>
            </a:endParaRPr>
          </a:p>
          <a:p>
            <a:pPr marL="76200" indent="0">
              <a:buNone/>
            </a:pPr>
            <a:endParaRPr lang="en-US" sz="1800" dirty="0">
              <a:solidFill>
                <a:srgbClr val="000000"/>
              </a:solidFill>
              <a:latin typeface="Times New Roman" panose="02020603050405020304" pitchFamily="18" charset="0"/>
            </a:endParaRPr>
          </a:p>
          <a:p>
            <a:pPr marL="76200" indent="0">
              <a:buNone/>
            </a:pPr>
            <a:r>
              <a:rPr lang="en-US" sz="1800" dirty="0">
                <a:solidFill>
                  <a:srgbClr val="000000"/>
                </a:solidFill>
                <a:latin typeface="Times New Roman" panose="02020603050405020304" pitchFamily="18" charset="0"/>
              </a:rPr>
              <a:t>   </a:t>
            </a:r>
            <a:endParaRPr lang="en-IN" dirty="0"/>
          </a:p>
        </p:txBody>
      </p:sp>
      <p:graphicFrame>
        <p:nvGraphicFramePr>
          <p:cNvPr id="4" name="Table 3">
            <a:extLst>
              <a:ext uri="{FF2B5EF4-FFF2-40B4-BE49-F238E27FC236}">
                <a16:creationId xmlns:a16="http://schemas.microsoft.com/office/drawing/2014/main" id="{AA88FEA8-5343-9A89-02CF-B6EB3682F9E0}"/>
              </a:ext>
            </a:extLst>
          </p:cNvPr>
          <p:cNvGraphicFramePr>
            <a:graphicFrameLocks noGrp="1"/>
          </p:cNvGraphicFramePr>
          <p:nvPr>
            <p:extLst>
              <p:ext uri="{D42A27DB-BD31-4B8C-83A1-F6EECF244321}">
                <p14:modId xmlns:p14="http://schemas.microsoft.com/office/powerpoint/2010/main" val="350059111"/>
              </p:ext>
            </p:extLst>
          </p:nvPr>
        </p:nvGraphicFramePr>
        <p:xfrm>
          <a:off x="1976284" y="2901336"/>
          <a:ext cx="5191431" cy="2181108"/>
        </p:xfrm>
        <a:graphic>
          <a:graphicData uri="http://schemas.openxmlformats.org/drawingml/2006/table">
            <a:tbl>
              <a:tblPr firstRow="1" bandRow="1">
                <a:tableStyleId>{9B2FBFC6-B900-4C24-9E69-20D259D9EA4D}</a:tableStyleId>
              </a:tblPr>
              <a:tblGrid>
                <a:gridCol w="1730477">
                  <a:extLst>
                    <a:ext uri="{9D8B030D-6E8A-4147-A177-3AD203B41FA5}">
                      <a16:colId xmlns:a16="http://schemas.microsoft.com/office/drawing/2014/main" val="3049331754"/>
                    </a:ext>
                  </a:extLst>
                </a:gridCol>
                <a:gridCol w="1730477">
                  <a:extLst>
                    <a:ext uri="{9D8B030D-6E8A-4147-A177-3AD203B41FA5}">
                      <a16:colId xmlns:a16="http://schemas.microsoft.com/office/drawing/2014/main" val="3214397889"/>
                    </a:ext>
                  </a:extLst>
                </a:gridCol>
                <a:gridCol w="1730477">
                  <a:extLst>
                    <a:ext uri="{9D8B030D-6E8A-4147-A177-3AD203B41FA5}">
                      <a16:colId xmlns:a16="http://schemas.microsoft.com/office/drawing/2014/main" val="2632845033"/>
                    </a:ext>
                  </a:extLst>
                </a:gridCol>
              </a:tblGrid>
              <a:tr h="489497">
                <a:tc>
                  <a:txBody>
                    <a:bodyPr/>
                    <a:lstStyle/>
                    <a:p>
                      <a:r>
                        <a:rPr lang="en-IN" b="1" dirty="0">
                          <a:latin typeface="Times New Roman" panose="02020603050405020304" pitchFamily="18" charset="0"/>
                          <a:cs typeface="Times New Roman" panose="02020603050405020304" pitchFamily="18" charset="0"/>
                        </a:rPr>
                        <a:t>ALGORITHM USED</a:t>
                      </a:r>
                    </a:p>
                  </a:txBody>
                  <a:tcPr/>
                </a:tc>
                <a:tc>
                  <a:txBody>
                    <a:bodyPr/>
                    <a:lstStyle/>
                    <a:p>
                      <a:r>
                        <a:rPr lang="en-IN" dirty="0"/>
                        <a:t> </a:t>
                      </a:r>
                      <a:r>
                        <a:rPr lang="en-IN" b="1" dirty="0">
                          <a:latin typeface="Times New Roman" panose="02020603050405020304" pitchFamily="18" charset="0"/>
                          <a:cs typeface="Times New Roman" panose="02020603050405020304" pitchFamily="18" charset="0"/>
                        </a:rPr>
                        <a:t>EXISTING MODEL</a:t>
                      </a:r>
                      <a:endParaRPr lang="en-IN" dirty="0"/>
                    </a:p>
                  </a:txBody>
                  <a:tcPr/>
                </a:tc>
                <a:tc>
                  <a:txBody>
                    <a:bodyPr/>
                    <a:lstStyle/>
                    <a:p>
                      <a:r>
                        <a:rPr lang="en-IN" b="1" dirty="0">
                          <a:latin typeface="Times New Roman" panose="02020603050405020304" pitchFamily="18" charset="0"/>
                          <a:cs typeface="Times New Roman" panose="02020603050405020304" pitchFamily="18" charset="0"/>
                        </a:rPr>
                        <a:t>PROPOSED MODEL</a:t>
                      </a:r>
                    </a:p>
                  </a:txBody>
                  <a:tcPr/>
                </a:tc>
                <a:extLst>
                  <a:ext uri="{0D108BD9-81ED-4DB2-BD59-A6C34878D82A}">
                    <a16:rowId xmlns:a16="http://schemas.microsoft.com/office/drawing/2014/main" val="1915764770"/>
                  </a:ext>
                </a:extLst>
              </a:tr>
              <a:tr h="489497">
                <a:tc>
                  <a:txBody>
                    <a:bodyPr/>
                    <a:lstStyle/>
                    <a:p>
                      <a:r>
                        <a:rPr lang="en-IN" dirty="0">
                          <a:latin typeface="Times New Roman" panose="02020603050405020304" pitchFamily="18" charset="0"/>
                          <a:cs typeface="Times New Roman" panose="02020603050405020304" pitchFamily="18" charset="0"/>
                        </a:rPr>
                        <a:t>Linear Regression</a:t>
                      </a:r>
                    </a:p>
                  </a:txBody>
                  <a:tcPr/>
                </a:tc>
                <a:tc>
                  <a:txBody>
                    <a:bodyPr/>
                    <a:lstStyle/>
                    <a:p>
                      <a:r>
                        <a:rPr lang="en-IN" dirty="0"/>
                        <a:t>49.2</a:t>
                      </a:r>
                    </a:p>
                  </a:txBody>
                  <a:tcPr/>
                </a:tc>
                <a:tc>
                  <a:txBody>
                    <a:bodyPr/>
                    <a:lstStyle/>
                    <a:p>
                      <a:r>
                        <a:rPr lang="en-IN" dirty="0"/>
                        <a:t>49.72</a:t>
                      </a:r>
                    </a:p>
                  </a:txBody>
                  <a:tcPr/>
                </a:tc>
                <a:extLst>
                  <a:ext uri="{0D108BD9-81ED-4DB2-BD59-A6C34878D82A}">
                    <a16:rowId xmlns:a16="http://schemas.microsoft.com/office/drawing/2014/main" val="2161041771"/>
                  </a:ext>
                </a:extLst>
              </a:tr>
              <a:tr h="683954">
                <a:tc>
                  <a:txBody>
                    <a:bodyPr/>
                    <a:lstStyle/>
                    <a:p>
                      <a:r>
                        <a:rPr lang="en-IN" dirty="0">
                          <a:latin typeface="Times New Roman" panose="02020603050405020304" pitchFamily="18" charset="0"/>
                          <a:cs typeface="Times New Roman" panose="02020603050405020304" pitchFamily="18" charset="0"/>
                        </a:rPr>
                        <a:t>Random Forest Algorithm</a:t>
                      </a:r>
                    </a:p>
                  </a:txBody>
                  <a:tcPr/>
                </a:tc>
                <a:tc>
                  <a:txBody>
                    <a:bodyPr/>
                    <a:lstStyle/>
                    <a:p>
                      <a:r>
                        <a:rPr lang="en-IN" dirty="0"/>
                        <a:t>60.8</a:t>
                      </a:r>
                    </a:p>
                  </a:txBody>
                  <a:tcPr/>
                </a:tc>
                <a:tc>
                  <a:txBody>
                    <a:bodyPr/>
                    <a:lstStyle/>
                    <a:p>
                      <a:r>
                        <a:rPr lang="en-IN" dirty="0"/>
                        <a:t>60</a:t>
                      </a:r>
                    </a:p>
                  </a:txBody>
                  <a:tcPr/>
                </a:tc>
                <a:extLst>
                  <a:ext uri="{0D108BD9-81ED-4DB2-BD59-A6C34878D82A}">
                    <a16:rowId xmlns:a16="http://schemas.microsoft.com/office/drawing/2014/main" val="1000680596"/>
                  </a:ext>
                </a:extLst>
              </a:tr>
              <a:tr h="489497">
                <a:tc>
                  <a:txBody>
                    <a:bodyPr/>
                    <a:lstStyle/>
                    <a:p>
                      <a:r>
                        <a:rPr lang="en-IN" dirty="0">
                          <a:latin typeface="Times New Roman" panose="02020603050405020304" pitchFamily="18" charset="0"/>
                          <a:cs typeface="Times New Roman" panose="02020603050405020304" pitchFamily="18" charset="0"/>
                        </a:rPr>
                        <a:t>SVM algorithm</a:t>
                      </a:r>
                    </a:p>
                  </a:txBody>
                  <a:tcPr/>
                </a:tc>
                <a:tc>
                  <a:txBody>
                    <a:bodyPr/>
                    <a:lstStyle/>
                    <a:p>
                      <a:r>
                        <a:rPr lang="en-IN" dirty="0"/>
                        <a:t>-</a:t>
                      </a:r>
                    </a:p>
                  </a:txBody>
                  <a:tcPr/>
                </a:tc>
                <a:tc>
                  <a:txBody>
                    <a:bodyPr/>
                    <a:lstStyle/>
                    <a:p>
                      <a:r>
                        <a:rPr lang="en-IN" dirty="0"/>
                        <a:t>81.71</a:t>
                      </a:r>
                    </a:p>
                  </a:txBody>
                  <a:tcPr/>
                </a:tc>
                <a:extLst>
                  <a:ext uri="{0D108BD9-81ED-4DB2-BD59-A6C34878D82A}">
                    <a16:rowId xmlns:a16="http://schemas.microsoft.com/office/drawing/2014/main" val="2399298427"/>
                  </a:ext>
                </a:extLst>
              </a:tr>
            </a:tbl>
          </a:graphicData>
        </a:graphic>
      </p:graphicFrame>
    </p:spTree>
    <p:extLst>
      <p:ext uri="{BB962C8B-B14F-4D97-AF65-F5344CB8AC3E}">
        <p14:creationId xmlns:p14="http://schemas.microsoft.com/office/powerpoint/2010/main" val="323245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97" name="Google Shape;197;p1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Font typeface="Arial"/>
              <a:buNone/>
            </a:pPr>
            <a:r>
              <a:rPr lang="en-US" sz="1600" dirty="0">
                <a:latin typeface="Times New Roman" panose="02020603050405020304" pitchFamily="18" charset="0"/>
                <a:cs typeface="Times New Roman" panose="02020603050405020304" pitchFamily="18" charset="0"/>
              </a:rPr>
              <a:t>To predict the Tesla share's closing price, this paper employed five different algorithms, including statistical and deep learning methods. It can be seen that the Random Forest prediction algorithm has the greatest forecast accuracy for the Tesla stock among machine learning algorithms. Because it's possible that changes in the share market don't often adhere to a recognizable pattern or a constant cycle. The existence and longevity of trends will differ based on the organizations and industries. Investment results will increase with an awareness of these cycles and trends. We </a:t>
            </a:r>
            <a:r>
              <a:rPr lang="en-US" sz="1600" dirty="0" err="1">
                <a:latin typeface="Times New Roman" panose="02020603050405020304" pitchFamily="18" charset="0"/>
                <a:cs typeface="Times New Roman" panose="02020603050405020304" pitchFamily="18" charset="0"/>
              </a:rPr>
              <a:t>should</a:t>
            </a:r>
            <a:r>
              <a:rPr lang="en-US" sz="1800" dirty="0" err="1">
                <a:latin typeface="Times New Roman" panose="02020603050405020304" pitchFamily="18" charset="0"/>
                <a:cs typeface="Times New Roman" panose="02020603050405020304" pitchFamily="18" charset="0"/>
              </a:rPr>
              <a:t>use</a:t>
            </a:r>
            <a:r>
              <a:rPr lang="en-US" sz="1800" dirty="0">
                <a:latin typeface="Times New Roman" panose="02020603050405020304" pitchFamily="18" charset="0"/>
                <a:cs typeface="Times New Roman" panose="02020603050405020304" pitchFamily="18" charset="0"/>
              </a:rPr>
              <a:t> an integrated algorithm technique like Random Forest, which has excellent anti-interference and anti-over-fitting characteristics, to assess highly volatile equities like Tesla. Deep learning models that include news stories about the economy and monetary factors like income statements, trade volume, etc. can be constructed for future work to produce potentially better outcomes. </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FUTURE ENHANCEMENT</a:t>
            </a:r>
            <a:endParaRPr b="1">
              <a:latin typeface="Times New Roman"/>
              <a:ea typeface="Times New Roman"/>
              <a:cs typeface="Times New Roman"/>
              <a:sym typeface="Times New Roman"/>
            </a:endParaRPr>
          </a:p>
        </p:txBody>
      </p:sp>
      <p:sp>
        <p:nvSpPr>
          <p:cNvPr id="204" name="Google Shape;204;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marR="142240" lvl="0" indent="0" algn="just">
              <a:lnSpc>
                <a:spcPct val="115000"/>
              </a:lnSpc>
              <a:spcBef>
                <a:spcPts val="745"/>
              </a:spcBef>
              <a:spcAft>
                <a:spcPts val="0"/>
              </a:spcAft>
              <a:buNone/>
            </a:pPr>
            <a:r>
              <a:rPr lang="en-US" sz="1600" dirty="0">
                <a:latin typeface="Times New Roman" panose="02020603050405020304" pitchFamily="18" charset="0"/>
                <a:cs typeface="Times New Roman" panose="02020603050405020304" pitchFamily="18" charset="0"/>
              </a:rPr>
              <a:t>The stock values of the firm Tesla Inc. are listed in the research's data. On June 29, 2010, Tesla began trading publicly. The NASDAQ index lists Tesla's shares. Elon Musk, the richest man in the world at the time of its founding, has served as its CEO and has overseen operations in several nations. This is demonstrated by the fact that there isn't a big discrepancy between the actual and anticipated figures. Because the </a:t>
            </a:r>
            <a:r>
              <a:rPr lang="en-US" sz="1600" dirty="0" err="1">
                <a:latin typeface="Times New Roman" panose="02020603050405020304" pitchFamily="18" charset="0"/>
                <a:cs typeface="Times New Roman" panose="02020603050405020304" pitchFamily="18" charset="0"/>
              </a:rPr>
              <a:t>Rsquare</a:t>
            </a:r>
            <a:r>
              <a:rPr lang="en-US" sz="1600" dirty="0">
                <a:latin typeface="Times New Roman" panose="02020603050405020304" pitchFamily="18" charset="0"/>
                <a:cs typeface="Times New Roman" panose="02020603050405020304" pitchFamily="18" charset="0"/>
              </a:rPr>
              <a:t> values of Linear Regression, SVM, and Random Forest are all quite high, and the RMSE values are all very low, they were ready to be tested throughout the training period. These figures demonstrate how the system is capable of achieving the set objectives Investors may trade their personal equities on the stock market with other traders using stock brokerages and computerized trading platforms. Traders try to acquire stocks with rising prices and sell stocks with dropping prices on the share market. Because of its potential advantages, it could make it possible to foresee the future with credibility, which is something that most economies and people have long wished for. Understanding how to predict price fluctuations may be helpful for forecasting stock market enthusiasts. </a:t>
            </a:r>
            <a:endParaRPr lang="en-IN"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11" name="Google Shape;211;p15"/>
          <p:cNvSpPr txBox="1">
            <a:spLocks noGrp="1"/>
          </p:cNvSpPr>
          <p:nvPr>
            <p:ph type="body" idx="1"/>
          </p:nvPr>
        </p:nvSpPr>
        <p:spPr>
          <a:xfrm>
            <a:off x="170443" y="914400"/>
            <a:ext cx="8763000" cy="53340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[1] </a:t>
            </a:r>
            <a:r>
              <a:rPr lang="en-IN" sz="1600" dirty="0" err="1">
                <a:latin typeface="Times New Roman" panose="02020603050405020304" pitchFamily="18" charset="0"/>
                <a:cs typeface="Times New Roman" panose="02020603050405020304" pitchFamily="18" charset="0"/>
              </a:rPr>
              <a:t>Dhankar</a:t>
            </a:r>
            <a:r>
              <a:rPr lang="en-IN" sz="1600" dirty="0">
                <a:latin typeface="Times New Roman" panose="02020603050405020304" pitchFamily="18" charset="0"/>
                <a:cs typeface="Times New Roman" panose="02020603050405020304" pitchFamily="18" charset="0"/>
              </a:rPr>
              <a:t> R S. Stock Market Operations and Long-Run Reversal Effect in Capital Markets and Investment Decision Making India. Springer, 2019. </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[2] Usmani M, et al. Ali Stock market prediction using machine learning techniques. 2016 3rd International Conference on Computer and Information Sciences (ICCOINS), 2016, 322 - 327.</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 [3] </a:t>
            </a:r>
            <a:r>
              <a:rPr lang="en-IN" sz="1600" dirty="0" err="1">
                <a:latin typeface="Times New Roman" panose="02020603050405020304" pitchFamily="18" charset="0"/>
                <a:cs typeface="Times New Roman" panose="02020603050405020304" pitchFamily="18" charset="0"/>
              </a:rPr>
              <a:t>Grigoryan</a:t>
            </a:r>
            <a:r>
              <a:rPr lang="en-IN" sz="1600" dirty="0">
                <a:latin typeface="Times New Roman" panose="02020603050405020304" pitchFamily="18" charset="0"/>
                <a:cs typeface="Times New Roman" panose="02020603050405020304" pitchFamily="18" charset="0"/>
              </a:rPr>
              <a:t> H. A stock market prediction method based on support vector machines (</a:t>
            </a:r>
            <a:r>
              <a:rPr lang="en-IN" sz="1600" dirty="0" err="1">
                <a:latin typeface="Times New Roman" panose="02020603050405020304" pitchFamily="18" charset="0"/>
                <a:cs typeface="Times New Roman" panose="02020603050405020304" pitchFamily="18" charset="0"/>
              </a:rPr>
              <a:t>svm</a:t>
            </a:r>
            <a:r>
              <a:rPr lang="en-IN" sz="1600" dirty="0">
                <a:latin typeface="Times New Roman" panose="02020603050405020304" pitchFamily="18" charset="0"/>
                <a:cs typeface="Times New Roman" panose="02020603050405020304" pitchFamily="18" charset="0"/>
              </a:rPr>
              <a:t>) and independent component analysis (</a:t>
            </a:r>
            <a:r>
              <a:rPr lang="en-IN" sz="1600" dirty="0" err="1">
                <a:latin typeface="Times New Roman" panose="02020603050405020304" pitchFamily="18" charset="0"/>
                <a:cs typeface="Times New Roman" panose="02020603050405020304" pitchFamily="18" charset="0"/>
              </a:rPr>
              <a:t>ica</a:t>
            </a:r>
            <a:r>
              <a:rPr lang="en-IN" sz="1600" dirty="0">
                <a:latin typeface="Times New Roman" panose="02020603050405020304" pitchFamily="18" charset="0"/>
                <a:cs typeface="Times New Roman" panose="02020603050405020304" pitchFamily="18" charset="0"/>
              </a:rPr>
              <a:t>). Database Systems Journal, 2016, 7 (1): 12 - 21.</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 [4] </a:t>
            </a:r>
            <a:r>
              <a:rPr lang="en-IN" sz="1600" dirty="0" err="1">
                <a:latin typeface="Times New Roman" panose="02020603050405020304" pitchFamily="18" charset="0"/>
                <a:cs typeface="Times New Roman" panose="02020603050405020304" pitchFamily="18" charset="0"/>
              </a:rPr>
              <a:t>Nti</a:t>
            </a:r>
            <a:r>
              <a:rPr lang="en-IN" sz="1600" dirty="0">
                <a:latin typeface="Times New Roman" panose="02020603050405020304" pitchFamily="18" charset="0"/>
                <a:cs typeface="Times New Roman" panose="02020603050405020304" pitchFamily="18" charset="0"/>
              </a:rPr>
              <a:t> I K, Adekoya A F, </a:t>
            </a:r>
            <a:r>
              <a:rPr lang="en-IN" sz="1600" dirty="0" err="1">
                <a:latin typeface="Times New Roman" panose="02020603050405020304" pitchFamily="18" charset="0"/>
                <a:cs typeface="Times New Roman" panose="02020603050405020304" pitchFamily="18" charset="0"/>
              </a:rPr>
              <a:t>Weyori</a:t>
            </a:r>
            <a:r>
              <a:rPr lang="en-IN" sz="1600" dirty="0">
                <a:latin typeface="Times New Roman" panose="02020603050405020304" pitchFamily="18" charset="0"/>
                <a:cs typeface="Times New Roman" panose="02020603050405020304" pitchFamily="18" charset="0"/>
              </a:rPr>
              <a:t> B A. A systematic review of fundamental and technical analysis of stock market predictions. </a:t>
            </a:r>
            <a:r>
              <a:rPr lang="en-IN" sz="1600" dirty="0" err="1">
                <a:latin typeface="Times New Roman" panose="02020603050405020304" pitchFamily="18" charset="0"/>
                <a:cs typeface="Times New Roman" panose="02020603050405020304" pitchFamily="18" charset="0"/>
              </a:rPr>
              <a:t>Artif</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Intell</a:t>
            </a:r>
            <a:r>
              <a:rPr lang="en-IN" sz="1600" dirty="0">
                <a:latin typeface="Times New Roman" panose="02020603050405020304" pitchFamily="18" charset="0"/>
                <a:cs typeface="Times New Roman" panose="02020603050405020304" pitchFamily="18" charset="0"/>
              </a:rPr>
              <a:t>. Rev, 2019, 53: 3007 – 3057. </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[5] Sengupta A, Sena V. Impact of open innovation on industries and firms—A dynamic complex systems view. Technol. Forecast. Soc, 2020, 159: 120199. </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[6] </a:t>
            </a:r>
            <a:r>
              <a:rPr lang="en-IN" sz="1600" dirty="0" err="1">
                <a:latin typeface="Times New Roman" panose="02020603050405020304" pitchFamily="18" charset="0"/>
                <a:cs typeface="Times New Roman" panose="02020603050405020304" pitchFamily="18" charset="0"/>
              </a:rPr>
              <a:t>Terwiesch</a:t>
            </a:r>
            <a:r>
              <a:rPr lang="en-IN" sz="1600" dirty="0">
                <a:latin typeface="Times New Roman" panose="02020603050405020304" pitchFamily="18" charset="0"/>
                <a:cs typeface="Times New Roman" panose="02020603050405020304" pitchFamily="18" charset="0"/>
              </a:rPr>
              <a:t> C, Xu Y. Innovation Contests, Open Innovation, and Multiagent Problem Solving. </a:t>
            </a:r>
            <a:r>
              <a:rPr lang="en-IN" sz="1600" dirty="0" err="1">
                <a:latin typeface="Times New Roman" panose="02020603050405020304" pitchFamily="18" charset="0"/>
                <a:cs typeface="Times New Roman" panose="02020603050405020304" pitchFamily="18" charset="0"/>
              </a:rPr>
              <a:t>Manag</a:t>
            </a:r>
            <a:r>
              <a:rPr lang="en-IN" sz="1600" dirty="0">
                <a:latin typeface="Times New Roman" panose="02020603050405020304" pitchFamily="18" charset="0"/>
                <a:cs typeface="Times New Roman" panose="02020603050405020304" pitchFamily="18" charset="0"/>
              </a:rPr>
              <a:t>. Sci, 2008, 54: 1529 – 1543. </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[7] Blohm I, et al. Idea evaluation mechanisms for collective intelligence in open innovation communities: Do traders outperform raters? In Proceedings of the 32nd International Conference on Information Systems, </a:t>
            </a:r>
            <a:r>
              <a:rPr lang="en-IN" sz="1600" dirty="0" err="1">
                <a:latin typeface="Times New Roman" panose="02020603050405020304" pitchFamily="18" charset="0"/>
                <a:cs typeface="Times New Roman" panose="02020603050405020304" pitchFamily="18" charset="0"/>
              </a:rPr>
              <a:t>Cavtat</a:t>
            </a:r>
            <a:r>
              <a:rPr lang="en-IN" sz="1600" dirty="0">
                <a:latin typeface="Times New Roman" panose="02020603050405020304" pitchFamily="18" charset="0"/>
                <a:cs typeface="Times New Roman" panose="02020603050405020304" pitchFamily="18" charset="0"/>
              </a:rPr>
              <a:t>, Croatia, 2010, 21 – 24. </a:t>
            </a:r>
          </a:p>
          <a:p>
            <a:pPr marL="0" lvl="0" indent="0" algn="just" rtl="0">
              <a:lnSpc>
                <a:spcPct val="115000"/>
              </a:lnSpc>
              <a:spcBef>
                <a:spcPts val="0"/>
              </a:spcBef>
              <a:spcAft>
                <a:spcPts val="0"/>
              </a:spcAft>
              <a:buClr>
                <a:schemeClr val="dk1"/>
              </a:buClr>
              <a:buSzPts val="1100"/>
              <a:buFont typeface="Arial"/>
              <a:buNone/>
            </a:pPr>
            <a:r>
              <a:rPr lang="en-IN" sz="1600" dirty="0">
                <a:latin typeface="Times New Roman" panose="02020603050405020304" pitchFamily="18" charset="0"/>
                <a:cs typeface="Times New Roman" panose="02020603050405020304" pitchFamily="18" charset="0"/>
              </a:rPr>
              <a:t>[8] Del Giudice, et al. The human dimension of open innovation. </a:t>
            </a:r>
            <a:r>
              <a:rPr lang="en-IN" sz="1600" dirty="0" err="1">
                <a:latin typeface="Times New Roman" panose="02020603050405020304" pitchFamily="18" charset="0"/>
                <a:cs typeface="Times New Roman" panose="02020603050405020304" pitchFamily="18" charset="0"/>
              </a:rPr>
              <a:t>Manag</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Decis</a:t>
            </a:r>
            <a:r>
              <a:rPr lang="en-IN" sz="1600" dirty="0">
                <a:latin typeface="Times New Roman" panose="02020603050405020304" pitchFamily="18" charset="0"/>
                <a:cs typeface="Times New Roman" panose="02020603050405020304" pitchFamily="18" charset="0"/>
              </a:rPr>
              <a:t>, 2018, 56: 1159 – 1166. [9] </a:t>
            </a:r>
            <a:r>
              <a:rPr lang="en-IN" sz="1600" dirty="0" err="1">
                <a:latin typeface="Times New Roman" panose="02020603050405020304" pitchFamily="18" charset="0"/>
                <a:cs typeface="Times New Roman" panose="02020603050405020304" pitchFamily="18" charset="0"/>
              </a:rPr>
              <a:t>Daradkeh</a:t>
            </a:r>
            <a:r>
              <a:rPr lang="en-IN" sz="1600" dirty="0">
                <a:latin typeface="Times New Roman" panose="02020603050405020304" pitchFamily="18" charset="0"/>
                <a:cs typeface="Times New Roman" panose="02020603050405020304" pitchFamily="18" charset="0"/>
              </a:rPr>
              <a:t> M. The Influence of Sentiment Orientation in Open Innovation Communities: Empirical Evidence from a Business Analytics Community. J. Inf. </a:t>
            </a:r>
            <a:r>
              <a:rPr lang="en-IN" sz="1600" dirty="0" err="1">
                <a:latin typeface="Times New Roman" panose="02020603050405020304" pitchFamily="18" charset="0"/>
                <a:cs typeface="Times New Roman" panose="02020603050405020304" pitchFamily="18" charset="0"/>
              </a:rPr>
              <a:t>Knowl</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Manag</a:t>
            </a:r>
            <a:r>
              <a:rPr lang="en-IN" sz="1600" dirty="0">
                <a:latin typeface="Times New Roman" panose="02020603050405020304" pitchFamily="18" charset="0"/>
                <a:cs typeface="Times New Roman" panose="02020603050405020304" pitchFamily="18" charset="0"/>
              </a:rPr>
              <a:t>, 2021, 20: 2150031.</a:t>
            </a:r>
            <a:endParaRPr lang="en-US" sz="1600"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0"/>
              </a:spcBef>
              <a:spcAft>
                <a:spcPts val="0"/>
              </a:spcAft>
              <a:buClr>
                <a:schemeClr val="dk1"/>
              </a:buClr>
              <a:buSzPts val="1100"/>
              <a:buFont typeface="Arial"/>
              <a:buNone/>
            </a:pPr>
            <a:endParaRPr lang="en-US" sz="1600"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0"/>
              </a:spcBef>
              <a:spcAft>
                <a:spcPts val="0"/>
              </a:spcAft>
              <a:buClr>
                <a:schemeClr val="dk1"/>
              </a:buClr>
              <a:buSzPts val="1100"/>
              <a:buFont typeface="Arial"/>
              <a:buNone/>
            </a:pPr>
            <a:endParaRPr lang="en-US" sz="1800" b="1" dirty="0">
              <a:solidFill>
                <a:schemeClr val="tx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A356-8693-872D-432B-EABABDD907D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Text Placeholder 2">
            <a:extLst>
              <a:ext uri="{FF2B5EF4-FFF2-40B4-BE49-F238E27FC236}">
                <a16:creationId xmlns:a16="http://schemas.microsoft.com/office/drawing/2014/main" id="{5653791B-C0E8-4143-F484-70A05208C062}"/>
              </a:ext>
            </a:extLst>
          </p:cNvPr>
          <p:cNvSpPr>
            <a:spLocks noGrp="1"/>
          </p:cNvSpPr>
          <p:nvPr>
            <p:ph type="body" idx="1"/>
          </p:nvPr>
        </p:nvSpPr>
        <p:spPr/>
        <p:txBody>
          <a:bodyPr/>
          <a:lstStyle/>
          <a:p>
            <a:pPr marL="0" indent="0" algn="just">
              <a:lnSpc>
                <a:spcPct val="115000"/>
              </a:lnSpc>
              <a:buNone/>
            </a:pPr>
            <a:r>
              <a:rPr lang="en-IN" sz="1600" dirty="0">
                <a:latin typeface="Times New Roman" panose="02020603050405020304" pitchFamily="18" charset="0"/>
                <a:cs typeface="Times New Roman" panose="02020603050405020304" pitchFamily="18" charset="0"/>
              </a:rPr>
              <a:t>[10] </a:t>
            </a:r>
            <a:r>
              <a:rPr lang="en-IN" sz="1600" dirty="0" err="1">
                <a:latin typeface="Times New Roman" panose="02020603050405020304" pitchFamily="18" charset="0"/>
                <a:cs typeface="Times New Roman" panose="02020603050405020304" pitchFamily="18" charset="0"/>
              </a:rPr>
              <a:t>Seber</a:t>
            </a:r>
            <a:r>
              <a:rPr lang="en-IN" sz="1600" dirty="0">
                <a:latin typeface="Times New Roman" panose="02020603050405020304" pitchFamily="18" charset="0"/>
                <a:cs typeface="Times New Roman" panose="02020603050405020304" pitchFamily="18" charset="0"/>
              </a:rPr>
              <a:t> G A F, Lee A J. Linear regression analysis. John Wiley &amp; Sons, 2012, 329.</a:t>
            </a:r>
          </a:p>
          <a:p>
            <a:pPr marL="0" indent="0" algn="just">
              <a:lnSpc>
                <a:spcPct val="115000"/>
              </a:lnSpc>
              <a:buNone/>
            </a:pPr>
            <a:r>
              <a:rPr lang="en-IN" sz="1600" dirty="0">
                <a:latin typeface="Times New Roman" panose="02020603050405020304" pitchFamily="18" charset="0"/>
                <a:cs typeface="Times New Roman" panose="02020603050405020304" pitchFamily="18" charset="0"/>
              </a:rPr>
              <a:t> [11] Sunil Ray. </a:t>
            </a:r>
            <a:r>
              <a:rPr lang="en-IN" sz="1600" dirty="0" err="1">
                <a:latin typeface="Times New Roman" panose="02020603050405020304" pitchFamily="18" charset="0"/>
                <a:cs typeface="Times New Roman" panose="02020603050405020304" pitchFamily="18" charset="0"/>
              </a:rPr>
              <a:t>Svm</a:t>
            </a:r>
            <a:r>
              <a:rPr lang="en-IN" sz="1600" dirty="0">
                <a:latin typeface="Times New Roman" panose="02020603050405020304" pitchFamily="18" charset="0"/>
                <a:cs typeface="Times New Roman" panose="02020603050405020304" pitchFamily="18" charset="0"/>
              </a:rPr>
              <a:t> | support vector machine algorithm in machine learning [internet]. Available </a:t>
            </a:r>
            <a:r>
              <a:rPr lang="en-IN" sz="1600" dirty="0" err="1">
                <a:latin typeface="Times New Roman" panose="02020603050405020304" pitchFamily="18" charset="0"/>
                <a:cs typeface="Times New Roman" panose="02020603050405020304" pitchFamily="18" charset="0"/>
              </a:rPr>
              <a:t>from:https</a:t>
            </a:r>
            <a:r>
              <a:rPr lang="en-IN" sz="1600" dirty="0">
                <a:latin typeface="Times New Roman" panose="02020603050405020304" pitchFamily="18" charset="0"/>
                <a:cs typeface="Times New Roman" panose="02020603050405020304" pitchFamily="18" charset="0"/>
              </a:rPr>
              <a:t>://www.analyticsvidhya.com/blog/2017/09/understaing-support-vector-machine-examplecode/. Google Scholar. 2017. </a:t>
            </a:r>
          </a:p>
          <a:p>
            <a:pPr marL="0" indent="0" algn="just">
              <a:lnSpc>
                <a:spcPct val="115000"/>
              </a:lnSpc>
              <a:buNone/>
            </a:pPr>
            <a:r>
              <a:rPr lang="en-IN" sz="1600" dirty="0">
                <a:latin typeface="Times New Roman" panose="02020603050405020304" pitchFamily="18" charset="0"/>
                <a:cs typeface="Times New Roman" panose="02020603050405020304" pitchFamily="18" charset="0"/>
              </a:rPr>
              <a:t>[12] Henrique B M, </a:t>
            </a:r>
            <a:r>
              <a:rPr lang="en-IN" sz="1600" dirty="0" err="1">
                <a:latin typeface="Times New Roman" panose="02020603050405020304" pitchFamily="18" charset="0"/>
                <a:cs typeface="Times New Roman" panose="02020603050405020304" pitchFamily="18" charset="0"/>
              </a:rPr>
              <a:t>Sobreiro</a:t>
            </a:r>
            <a:r>
              <a:rPr lang="en-IN" sz="1600" dirty="0">
                <a:latin typeface="Times New Roman" panose="02020603050405020304" pitchFamily="18" charset="0"/>
                <a:cs typeface="Times New Roman" panose="02020603050405020304" pitchFamily="18" charset="0"/>
              </a:rPr>
              <a:t> V A, Kimura H. Stock price prediction using support vector regression on daily and up to the minute prices. J. </a:t>
            </a:r>
            <a:r>
              <a:rPr lang="en-IN" sz="1600" dirty="0" err="1">
                <a:latin typeface="Times New Roman" panose="02020603050405020304" pitchFamily="18" charset="0"/>
                <a:cs typeface="Times New Roman" panose="02020603050405020304" pitchFamily="18" charset="0"/>
              </a:rPr>
              <a:t>Financ</a:t>
            </a:r>
            <a:r>
              <a:rPr lang="en-IN" sz="1600" dirty="0">
                <a:latin typeface="Times New Roman" panose="02020603050405020304" pitchFamily="18" charset="0"/>
                <a:cs typeface="Times New Roman" panose="02020603050405020304" pitchFamily="18" charset="0"/>
              </a:rPr>
              <a:t>. Data Sci., 2018, 4 (3): 183 - 201.</a:t>
            </a:r>
          </a:p>
          <a:p>
            <a:pPr marL="0" indent="0" algn="just">
              <a:lnSpc>
                <a:spcPct val="115000"/>
              </a:lnSpc>
              <a:buNone/>
            </a:pPr>
            <a:r>
              <a:rPr lang="en-IN" sz="1600" dirty="0">
                <a:latin typeface="Times New Roman" panose="02020603050405020304" pitchFamily="18" charset="0"/>
                <a:cs typeface="Times New Roman" panose="02020603050405020304" pitchFamily="18" charset="0"/>
              </a:rPr>
              <a:t> [13] </a:t>
            </a:r>
            <a:r>
              <a:rPr lang="en-IN" sz="1600" dirty="0" err="1">
                <a:latin typeface="Times New Roman" panose="02020603050405020304" pitchFamily="18" charset="0"/>
                <a:cs typeface="Times New Roman" panose="02020603050405020304" pitchFamily="18" charset="0"/>
              </a:rPr>
              <a:t>Liaw</a:t>
            </a:r>
            <a:r>
              <a:rPr lang="en-IN" sz="1600" dirty="0">
                <a:latin typeface="Times New Roman" panose="02020603050405020304" pitchFamily="18" charset="0"/>
                <a:cs typeface="Times New Roman" panose="02020603050405020304" pitchFamily="18" charset="0"/>
              </a:rPr>
              <a:t> Andy, Matthew Wiener. Classification and regression by Random Forest. R news, 2002, 2 (3): 18 - 22. </a:t>
            </a:r>
          </a:p>
          <a:p>
            <a:pPr marL="0" indent="0" algn="just">
              <a:lnSpc>
                <a:spcPct val="115000"/>
              </a:lnSpc>
              <a:buNone/>
            </a:pPr>
            <a:r>
              <a:rPr lang="en-IN" sz="1600" dirty="0">
                <a:latin typeface="Times New Roman" panose="02020603050405020304" pitchFamily="18" charset="0"/>
                <a:cs typeface="Times New Roman" panose="02020603050405020304" pitchFamily="18" charset="0"/>
              </a:rPr>
              <a:t>[14] Kumar, Manish, </a:t>
            </a:r>
            <a:r>
              <a:rPr lang="en-IN" sz="1600" dirty="0" err="1">
                <a:latin typeface="Times New Roman" panose="02020603050405020304" pitchFamily="18" charset="0"/>
                <a:cs typeface="Times New Roman" panose="02020603050405020304" pitchFamily="18" charset="0"/>
              </a:rPr>
              <a:t>Thenmozhi</a:t>
            </a:r>
            <a:r>
              <a:rPr lang="en-IN" sz="1600" dirty="0">
                <a:latin typeface="Times New Roman" panose="02020603050405020304" pitchFamily="18" charset="0"/>
                <a:cs typeface="Times New Roman" panose="02020603050405020304" pitchFamily="18" charset="0"/>
              </a:rPr>
              <a:t>. Forecasting stock index movement: A comparison of support vector machines and random forest. In Indian institute of capital markets 9th capital markets conference paper, 2006.</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0" indent="0">
              <a:buNone/>
            </a:pPr>
            <a:endParaRPr lang="en-IN" dirty="0">
              <a:solidFill>
                <a:schemeClr val="tx1"/>
              </a:solidFill>
            </a:endParaRPr>
          </a:p>
        </p:txBody>
      </p:sp>
    </p:spTree>
    <p:extLst>
      <p:ext uri="{BB962C8B-B14F-4D97-AF65-F5344CB8AC3E}">
        <p14:creationId xmlns:p14="http://schemas.microsoft.com/office/powerpoint/2010/main" val="2190906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p:nvPr/>
        </p:nvSpPr>
        <p:spPr>
          <a:xfrm>
            <a:off x="324465" y="2340665"/>
            <a:ext cx="8178393" cy="1569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600"/>
              <a:buFont typeface="Arial"/>
              <a:buNone/>
            </a:pPr>
            <a:r>
              <a:rPr lang="en-US" sz="9600" dirty="0">
                <a:solidFill>
                  <a:schemeClr val="dk1"/>
                </a:solidFill>
                <a:latin typeface="Calibri"/>
                <a:ea typeface="Calibri"/>
                <a:cs typeface="Calibri"/>
                <a:sym typeface="Calibri"/>
              </a:rPr>
              <a:t>  </a:t>
            </a:r>
            <a:r>
              <a:rPr lang="en-US" sz="9600" dirty="0">
                <a:solidFill>
                  <a:schemeClr val="dk1"/>
                </a:solidFill>
                <a:latin typeface="Times New Roman" panose="02020603050405020304" pitchFamily="18" charset="0"/>
                <a:ea typeface="Calibri"/>
                <a:cs typeface="Times New Roman" panose="02020603050405020304" pitchFamily="18" charset="0"/>
                <a:sym typeface="Calibri"/>
              </a:rPr>
              <a:t>THANK YOU</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2460</Words>
  <Application>Microsoft Office PowerPoint</Application>
  <PresentationFormat>On-screen Show (4:3)</PresentationFormat>
  <Paragraphs>151</Paragraphs>
  <Slides>18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Times New Roman</vt:lpstr>
      <vt:lpstr>Calibri</vt:lpstr>
      <vt:lpstr>Open Sans ExtraBold</vt:lpstr>
      <vt:lpstr>Arial</vt:lpstr>
      <vt:lpstr>Noto Sans Symbols</vt:lpstr>
      <vt:lpstr>Office Theme</vt:lpstr>
      <vt:lpstr>PowerPoint Presentation</vt:lpstr>
      <vt:lpstr>AGENDA</vt:lpstr>
      <vt:lpstr>ABSTRACT</vt:lpstr>
      <vt:lpstr>INTRODUCTION</vt:lpstr>
      <vt:lpstr>LITERATURE SURVEY</vt:lpstr>
      <vt:lpstr>LITERATURE SURVEY</vt:lpstr>
      <vt:lpstr>EXISTING SYSTEM</vt:lpstr>
      <vt:lpstr>PROPOSED SYSTEM</vt:lpstr>
      <vt:lpstr>PROPOSED METHODOLOGY</vt:lpstr>
      <vt:lpstr>RESULTS AND DISCUSSIONS</vt:lpstr>
      <vt:lpstr>RESULTS AND DISCUSSION</vt:lpstr>
      <vt:lpstr>OUTPUT</vt:lpstr>
      <vt:lpstr>COMPARATIVE ANALYSIS</vt:lpstr>
      <vt:lpstr>CONCLUSION</vt:lpstr>
      <vt:lpstr>FUTURE ENHANCEMENT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KB VIMAL</dc:creator>
  <cp:lastModifiedBy>Sathish Kumar</cp:lastModifiedBy>
  <cp:revision>4</cp:revision>
  <dcterms:modified xsi:type="dcterms:W3CDTF">2024-05-25T04:23:27Z</dcterms:modified>
</cp:coreProperties>
</file>